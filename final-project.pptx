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73" r:id="rId1"/>
  </p:sldMasterIdLst>
  <p:notesMasterIdLst>
    <p:notesMasterId r:id="rId17"/>
  </p:notesMasterIdLst>
  <p:handoutMasterIdLst>
    <p:handoutMasterId r:id="rId18"/>
  </p:handoutMasterIdLst>
  <p:sldIdLst>
    <p:sldId id="256" r:id="rId2"/>
    <p:sldId id="267" r:id="rId3"/>
    <p:sldId id="260" r:id="rId4"/>
    <p:sldId id="271" r:id="rId5"/>
    <p:sldId id="276" r:id="rId6"/>
    <p:sldId id="279" r:id="rId7"/>
    <p:sldId id="277" r:id="rId8"/>
    <p:sldId id="281" r:id="rId9"/>
    <p:sldId id="286" r:id="rId10"/>
    <p:sldId id="285" r:id="rId11"/>
    <p:sldId id="287" r:id="rId12"/>
    <p:sldId id="284" r:id="rId13"/>
    <p:sldId id="283" r:id="rId14"/>
    <p:sldId id="274" r:id="rId15"/>
    <p:sldId id="269"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941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882" autoAdjust="0"/>
    <p:restoredTop sz="94660"/>
  </p:normalViewPr>
  <p:slideViewPr>
    <p:cSldViewPr snapToGrid="0">
      <p:cViewPr varScale="1">
        <p:scale>
          <a:sx n="65" d="100"/>
          <a:sy n="65" d="100"/>
        </p:scale>
        <p:origin x="69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836B45B-D24D-4B87-09B2-80951CABDCF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2E4A8B26-EB04-6DD4-863B-A50C4B3B3E6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5719935-F1F1-4E62-B336-2FDBC29070CA}" type="datetimeFigureOut">
              <a:rPr lang="en-IN" smtClean="0"/>
              <a:t>10-02-2025</a:t>
            </a:fld>
            <a:endParaRPr lang="en-IN"/>
          </a:p>
        </p:txBody>
      </p:sp>
      <p:sp>
        <p:nvSpPr>
          <p:cNvPr id="4" name="Footer Placeholder 3">
            <a:extLst>
              <a:ext uri="{FF2B5EF4-FFF2-40B4-BE49-F238E27FC236}">
                <a16:creationId xmlns:a16="http://schemas.microsoft.com/office/drawing/2014/main" id="{D6734588-EECA-5A2D-133B-6A50A478C7F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A957451F-821F-759C-C9EE-5691EEA8937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758A789-1E4F-47F4-8094-1174ABFD4FA5}" type="slidenum">
              <a:rPr lang="en-IN" smtClean="0"/>
              <a:t>‹#›</a:t>
            </a:fld>
            <a:endParaRPr lang="en-IN"/>
          </a:p>
        </p:txBody>
      </p:sp>
    </p:spTree>
    <p:extLst>
      <p:ext uri="{BB962C8B-B14F-4D97-AF65-F5344CB8AC3E}">
        <p14:creationId xmlns:p14="http://schemas.microsoft.com/office/powerpoint/2010/main" val="3620381231"/>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B26339-05B9-4A96-8C9F-5617DC520287}" type="datetimeFigureOut">
              <a:rPr lang="en-IN" smtClean="0"/>
              <a:t>10-02-2025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DE5F63-3940-4D4A-8608-51249D226416}" type="slidenum">
              <a:rPr lang="en-IN" smtClean="0"/>
              <a:t>‹#›</a:t>
            </a:fld>
            <a:endParaRPr lang="en-IN"/>
          </a:p>
        </p:txBody>
      </p:sp>
    </p:spTree>
    <p:extLst>
      <p:ext uri="{BB962C8B-B14F-4D97-AF65-F5344CB8AC3E}">
        <p14:creationId xmlns:p14="http://schemas.microsoft.com/office/powerpoint/2010/main" val="635191538"/>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6EDE5F63-3940-4D4A-8608-51249D226416}" type="slidenum">
              <a:rPr lang="en-IN" smtClean="0"/>
              <a:t>1</a:t>
            </a:fld>
            <a:endParaRPr lang="en-IN"/>
          </a:p>
        </p:txBody>
      </p:sp>
      <p:sp>
        <p:nvSpPr>
          <p:cNvPr id="5" name="Footer Placeholder 4">
            <a:extLst>
              <a:ext uri="{FF2B5EF4-FFF2-40B4-BE49-F238E27FC236}">
                <a16:creationId xmlns:a16="http://schemas.microsoft.com/office/drawing/2014/main" id="{5BB05EA2-75B9-00C2-DBCB-BF231BF3DE24}"/>
              </a:ext>
            </a:extLst>
          </p:cNvPr>
          <p:cNvSpPr>
            <a:spLocks noGrp="1"/>
          </p:cNvSpPr>
          <p:nvPr>
            <p:ph type="ftr" sz="quarter" idx="4"/>
          </p:nvPr>
        </p:nvSpPr>
        <p:spPr/>
        <p:txBody>
          <a:bodyPr/>
          <a:lstStyle/>
          <a:p>
            <a:endParaRPr lang="en-IN"/>
          </a:p>
        </p:txBody>
      </p:sp>
    </p:spTree>
    <p:extLst>
      <p:ext uri="{BB962C8B-B14F-4D97-AF65-F5344CB8AC3E}">
        <p14:creationId xmlns:p14="http://schemas.microsoft.com/office/powerpoint/2010/main" val="25466500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6EDE5F63-3940-4D4A-8608-51249D226416}" type="slidenum">
              <a:rPr lang="en-IN" smtClean="0"/>
              <a:t>3</a:t>
            </a:fld>
            <a:endParaRPr lang="en-IN"/>
          </a:p>
        </p:txBody>
      </p:sp>
      <p:sp>
        <p:nvSpPr>
          <p:cNvPr id="5" name="Footer Placeholder 4">
            <a:extLst>
              <a:ext uri="{FF2B5EF4-FFF2-40B4-BE49-F238E27FC236}">
                <a16:creationId xmlns:a16="http://schemas.microsoft.com/office/drawing/2014/main" id="{215CF2C4-098A-E3BA-F1B0-BB77AC3BB9FF}"/>
              </a:ext>
            </a:extLst>
          </p:cNvPr>
          <p:cNvSpPr>
            <a:spLocks noGrp="1"/>
          </p:cNvSpPr>
          <p:nvPr>
            <p:ph type="ftr" sz="quarter" idx="4"/>
          </p:nvPr>
        </p:nvSpPr>
        <p:spPr/>
        <p:txBody>
          <a:bodyPr/>
          <a:lstStyle/>
          <a:p>
            <a:endParaRPr lang="en-IN"/>
          </a:p>
        </p:txBody>
      </p:sp>
    </p:spTree>
    <p:extLst>
      <p:ext uri="{BB962C8B-B14F-4D97-AF65-F5344CB8AC3E}">
        <p14:creationId xmlns:p14="http://schemas.microsoft.com/office/powerpoint/2010/main" val="24343860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Dept. of ISE</a:t>
            </a:r>
            <a:endParaRPr lang="en-US" dirty="0"/>
          </a:p>
        </p:txBody>
      </p:sp>
      <p:sp>
        <p:nvSpPr>
          <p:cNvPr id="5" name="Footer Placeholder 4"/>
          <p:cNvSpPr>
            <a:spLocks noGrp="1"/>
          </p:cNvSpPr>
          <p:nvPr>
            <p:ph type="ftr" sz="quarter" idx="11"/>
          </p:nvPr>
        </p:nvSpPr>
        <p:spPr/>
        <p:txBody>
          <a:bodyPr/>
          <a:lstStyle/>
          <a:p>
            <a:r>
              <a:rPr lang="en-US"/>
              <a:t>10-02-2025</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61635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Dept. of ISE</a:t>
            </a:r>
            <a:endParaRPr lang="en-US" dirty="0"/>
          </a:p>
        </p:txBody>
      </p:sp>
      <p:sp>
        <p:nvSpPr>
          <p:cNvPr id="5" name="Footer Placeholder 4"/>
          <p:cNvSpPr>
            <a:spLocks noGrp="1"/>
          </p:cNvSpPr>
          <p:nvPr>
            <p:ph type="ftr" sz="quarter" idx="11"/>
          </p:nvPr>
        </p:nvSpPr>
        <p:spPr/>
        <p:txBody>
          <a:bodyPr/>
          <a:lstStyle/>
          <a:p>
            <a:r>
              <a:rPr lang="en-US"/>
              <a:t>10-02-2025</a:t>
            </a:r>
            <a:endParaRPr lang="en-US" dirty="0"/>
          </a:p>
        </p:txBody>
      </p:sp>
      <p:sp>
        <p:nvSpPr>
          <p:cNvPr id="6" name="Slide Number Placeholder 5"/>
          <p:cNvSpPr>
            <a:spLocks noGrp="1"/>
          </p:cNvSpPr>
          <p:nvPr>
            <p:ph type="sldNum" sz="quarter" idx="12"/>
          </p:nvPr>
        </p:nvSpPr>
        <p:spPr/>
        <p:txBody>
          <a:bodyPr/>
          <a:lstStyle/>
          <a:p>
            <a:fld id="{4CE482DC-2269-4F26-9D2A-7E44B1A4CD85}" type="slidenum">
              <a:rPr lang="en-US" smtClean="0"/>
              <a:t>‹#›</a:t>
            </a:fld>
            <a:endParaRPr lang="en-US" dirty="0"/>
          </a:p>
        </p:txBody>
      </p:sp>
    </p:spTree>
    <p:extLst>
      <p:ext uri="{BB962C8B-B14F-4D97-AF65-F5344CB8AC3E}">
        <p14:creationId xmlns:p14="http://schemas.microsoft.com/office/powerpoint/2010/main" val="1347782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Dept. of ISE</a:t>
            </a:r>
            <a:endParaRPr lang="en-US" dirty="0"/>
          </a:p>
        </p:txBody>
      </p:sp>
      <p:sp>
        <p:nvSpPr>
          <p:cNvPr id="5" name="Footer Placeholder 4"/>
          <p:cNvSpPr>
            <a:spLocks noGrp="1"/>
          </p:cNvSpPr>
          <p:nvPr>
            <p:ph type="ftr" sz="quarter" idx="11"/>
          </p:nvPr>
        </p:nvSpPr>
        <p:spPr/>
        <p:txBody>
          <a:bodyPr/>
          <a:lstStyle/>
          <a:p>
            <a:r>
              <a:rPr lang="en-US"/>
              <a:t>10-02-2025</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17364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Dept. of ISE</a:t>
            </a:r>
            <a:endParaRPr lang="en-US" dirty="0"/>
          </a:p>
        </p:txBody>
      </p:sp>
      <p:sp>
        <p:nvSpPr>
          <p:cNvPr id="6" name="Footer Placeholder 5"/>
          <p:cNvSpPr>
            <a:spLocks noGrp="1"/>
          </p:cNvSpPr>
          <p:nvPr>
            <p:ph type="ftr" sz="quarter" idx="11"/>
          </p:nvPr>
        </p:nvSpPr>
        <p:spPr/>
        <p:txBody>
          <a:bodyPr/>
          <a:lstStyle/>
          <a:p>
            <a:r>
              <a:rPr lang="en-US"/>
              <a:t>10-02-2025</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2207526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Dept. of ISE</a:t>
            </a:r>
            <a:endParaRPr lang="en-US" dirty="0"/>
          </a:p>
        </p:txBody>
      </p:sp>
      <p:sp>
        <p:nvSpPr>
          <p:cNvPr id="8" name="Footer Placeholder 7"/>
          <p:cNvSpPr>
            <a:spLocks noGrp="1"/>
          </p:cNvSpPr>
          <p:nvPr>
            <p:ph type="ftr" sz="quarter" idx="11"/>
          </p:nvPr>
        </p:nvSpPr>
        <p:spPr/>
        <p:txBody>
          <a:bodyPr/>
          <a:lstStyle/>
          <a:p>
            <a:r>
              <a:rPr lang="en-US"/>
              <a:t>10-02-2025</a:t>
            </a:r>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1825556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Dept. of ISE</a:t>
            </a:r>
            <a:endParaRPr lang="en-US" dirty="0"/>
          </a:p>
        </p:txBody>
      </p:sp>
      <p:sp>
        <p:nvSpPr>
          <p:cNvPr id="4" name="Footer Placeholder 3"/>
          <p:cNvSpPr>
            <a:spLocks noGrp="1"/>
          </p:cNvSpPr>
          <p:nvPr>
            <p:ph type="ftr" sz="quarter" idx="11"/>
          </p:nvPr>
        </p:nvSpPr>
        <p:spPr/>
        <p:txBody>
          <a:bodyPr/>
          <a:lstStyle/>
          <a:p>
            <a:r>
              <a:rPr lang="en-US"/>
              <a:t>10-02-2025</a:t>
            </a:r>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1159734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r>
              <a:rPr lang="en-US"/>
              <a:t>Dept. of ISE</a:t>
            </a:r>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t>10-02-2025</a:t>
            </a:r>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0761952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r>
              <a:rPr lang="en-US"/>
              <a:t>Dept. of ISE</a:t>
            </a:r>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a:t>10-02-2025</a:t>
            </a:r>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1676862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Dept. of ISE</a:t>
            </a:r>
            <a:endParaRPr lang="en-US" dirty="0"/>
          </a:p>
        </p:txBody>
      </p:sp>
      <p:sp>
        <p:nvSpPr>
          <p:cNvPr id="6" name="Footer Placeholder 5"/>
          <p:cNvSpPr>
            <a:spLocks noGrp="1"/>
          </p:cNvSpPr>
          <p:nvPr>
            <p:ph type="ftr" sz="quarter" idx="11"/>
          </p:nvPr>
        </p:nvSpPr>
        <p:spPr/>
        <p:txBody>
          <a:bodyPr/>
          <a:lstStyle/>
          <a:p>
            <a:r>
              <a:rPr lang="en-US"/>
              <a:t>10-02-2025</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954832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Dept. of ISE</a:t>
            </a:r>
            <a:endParaRPr lang="en-US" dirty="0"/>
          </a:p>
        </p:txBody>
      </p:sp>
      <p:sp>
        <p:nvSpPr>
          <p:cNvPr id="5" name="Footer Placeholder 4"/>
          <p:cNvSpPr>
            <a:spLocks noGrp="1"/>
          </p:cNvSpPr>
          <p:nvPr>
            <p:ph type="ftr" sz="quarter" idx="11"/>
          </p:nvPr>
        </p:nvSpPr>
        <p:spPr/>
        <p:txBody>
          <a:bodyPr/>
          <a:lstStyle/>
          <a:p>
            <a:r>
              <a:rPr lang="en-US"/>
              <a:t>10-02-2025</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1777648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Dept. of ISE</a:t>
            </a:r>
            <a:endParaRPr lang="en-US" dirty="0"/>
          </a:p>
        </p:txBody>
      </p:sp>
      <p:sp>
        <p:nvSpPr>
          <p:cNvPr id="5" name="Footer Placeholder 4"/>
          <p:cNvSpPr>
            <a:spLocks noGrp="1"/>
          </p:cNvSpPr>
          <p:nvPr>
            <p:ph type="ftr" sz="quarter" idx="11"/>
          </p:nvPr>
        </p:nvSpPr>
        <p:spPr/>
        <p:txBody>
          <a:bodyPr/>
          <a:lstStyle/>
          <a:p>
            <a:r>
              <a:rPr lang="en-US"/>
              <a:t>10-02-2025</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4637737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r>
              <a:rPr lang="en-US"/>
              <a:t>Dept. of ISE</a:t>
            </a:r>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a:t>10-02-2025</a:t>
            </a:r>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smtClean="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4775961"/>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hd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3">
            <a:extLst>
              <a:ext uri="{28A0092B-C50C-407E-A947-70E740481C1C}">
                <a14:useLocalDpi xmlns:a14="http://schemas.microsoft.com/office/drawing/2010/main" val="0"/>
              </a:ext>
            </a:extLst>
          </a:blip>
          <a:srcRect l="10099" t="12971" r="9309" b="17697"/>
          <a:stretch/>
        </p:blipFill>
        <p:spPr>
          <a:xfrm>
            <a:off x="363452" y="240017"/>
            <a:ext cx="1349026" cy="1192190"/>
          </a:xfrm>
          <a:prstGeom prst="rect">
            <a:avLst/>
          </a:prstGeom>
        </p:spPr>
      </p:pic>
      <p:sp>
        <p:nvSpPr>
          <p:cNvPr id="7" name="TextBox 6"/>
          <p:cNvSpPr txBox="1"/>
          <p:nvPr/>
        </p:nvSpPr>
        <p:spPr>
          <a:xfrm>
            <a:off x="1712478" y="405225"/>
            <a:ext cx="8767043" cy="861774"/>
          </a:xfrm>
          <a:prstGeom prst="rect">
            <a:avLst/>
          </a:prstGeom>
          <a:noFill/>
        </p:spPr>
        <p:txBody>
          <a:bodyPr wrap="square" rtlCol="0">
            <a:spAutoFit/>
          </a:bodyPr>
          <a:lstStyle/>
          <a:p>
            <a:pPr algn="ctr"/>
            <a:r>
              <a:rPr lang="en-IN" sz="3200" b="1" dirty="0">
                <a:solidFill>
                  <a:srgbClr val="EB9415"/>
                </a:solidFill>
                <a:latin typeface="Times New Roman" panose="02020603050405020304" pitchFamily="18" charset="0"/>
                <a:cs typeface="Times New Roman" panose="02020603050405020304" pitchFamily="18" charset="0"/>
              </a:rPr>
              <a:t>YENEPOYA INSTITUTE OF TECHNOLOGY</a:t>
            </a:r>
          </a:p>
          <a:p>
            <a:pPr algn="ct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NH-13, </a:t>
            </a:r>
            <a:r>
              <a:rPr lang="en-IN" b="1" dirty="0" err="1">
                <a:latin typeface="Times New Roman" panose="02020603050405020304" pitchFamily="18" charset="0"/>
                <a:cs typeface="Times New Roman" panose="02020603050405020304" pitchFamily="18" charset="0"/>
              </a:rPr>
              <a:t>Thodar</a:t>
            </a:r>
            <a:r>
              <a:rPr lang="en-IN" b="1" dirty="0">
                <a:latin typeface="Times New Roman" panose="02020603050405020304" pitchFamily="18" charset="0"/>
                <a:cs typeface="Times New Roman" panose="02020603050405020304" pitchFamily="18" charset="0"/>
              </a:rPr>
              <a:t>, </a:t>
            </a:r>
            <a:r>
              <a:rPr lang="en-IN" b="1" dirty="0" err="1">
                <a:latin typeface="Times New Roman" panose="02020603050405020304" pitchFamily="18" charset="0"/>
                <a:cs typeface="Times New Roman" panose="02020603050405020304" pitchFamily="18" charset="0"/>
              </a:rPr>
              <a:t>Moodbidri</a:t>
            </a:r>
            <a:r>
              <a:rPr lang="en-IN" b="1" dirty="0">
                <a:latin typeface="Times New Roman" panose="02020603050405020304" pitchFamily="18" charset="0"/>
                <a:cs typeface="Times New Roman" panose="02020603050405020304" pitchFamily="18" charset="0"/>
              </a:rPr>
              <a:t>, Mangalore, Karnataka 574225</a:t>
            </a:r>
          </a:p>
        </p:txBody>
      </p:sp>
      <p:sp>
        <p:nvSpPr>
          <p:cNvPr id="8" name="TextBox 7"/>
          <p:cNvSpPr txBox="1"/>
          <p:nvPr/>
        </p:nvSpPr>
        <p:spPr>
          <a:xfrm>
            <a:off x="660400" y="4521200"/>
            <a:ext cx="4301066" cy="1384995"/>
          </a:xfrm>
          <a:prstGeom prst="rect">
            <a:avLst/>
          </a:prstGeom>
          <a:noFill/>
        </p:spPr>
        <p:txBody>
          <a:bodyPr wrap="square" rtlCol="0">
            <a:spAutoFit/>
          </a:bodyPr>
          <a:lstStyle/>
          <a:p>
            <a:r>
              <a:rPr lang="en-IN" sz="2100" dirty="0">
                <a:latin typeface="Times New Roman" panose="02020603050405020304" pitchFamily="18" charset="0"/>
                <a:cs typeface="Times New Roman" panose="02020603050405020304" pitchFamily="18" charset="0"/>
              </a:rPr>
              <a:t>Under the guidance:</a:t>
            </a:r>
          </a:p>
          <a:p>
            <a:r>
              <a:rPr lang="en-IN" sz="2100" dirty="0" err="1">
                <a:latin typeface="Times New Roman" panose="02020603050405020304" pitchFamily="18" charset="0"/>
                <a:cs typeface="Times New Roman" panose="02020603050405020304" pitchFamily="18" charset="0"/>
              </a:rPr>
              <a:t>Dr.</a:t>
            </a:r>
            <a:r>
              <a:rPr lang="en-IN" sz="2100" dirty="0">
                <a:latin typeface="Times New Roman" panose="02020603050405020304" pitchFamily="18" charset="0"/>
                <a:cs typeface="Times New Roman" panose="02020603050405020304" pitchFamily="18" charset="0"/>
              </a:rPr>
              <a:t> Pradeep Udupa</a:t>
            </a:r>
          </a:p>
          <a:p>
            <a:r>
              <a:rPr lang="en-IN" sz="2100" dirty="0">
                <a:latin typeface="Times New Roman" panose="02020603050405020304" pitchFamily="18" charset="0"/>
                <a:cs typeface="Times New Roman" panose="02020603050405020304" pitchFamily="18" charset="0"/>
              </a:rPr>
              <a:t>Associate Prof. &amp; HOD </a:t>
            </a:r>
          </a:p>
          <a:p>
            <a:endParaRPr lang="en-IN" sz="2100" dirty="0">
              <a:latin typeface="Times New Roman" panose="02020603050405020304" pitchFamily="18" charset="0"/>
              <a:cs typeface="Times New Roman" panose="02020603050405020304" pitchFamily="18" charset="0"/>
            </a:endParaRPr>
          </a:p>
        </p:txBody>
      </p:sp>
      <p:sp>
        <p:nvSpPr>
          <p:cNvPr id="9" name="TextBox 8"/>
          <p:cNvSpPr txBox="1"/>
          <p:nvPr/>
        </p:nvSpPr>
        <p:spPr>
          <a:xfrm>
            <a:off x="6895322" y="4521200"/>
            <a:ext cx="4973216" cy="1708160"/>
          </a:xfrm>
          <a:prstGeom prst="rect">
            <a:avLst/>
          </a:prstGeom>
          <a:noFill/>
        </p:spPr>
        <p:txBody>
          <a:bodyPr wrap="square" rtlCol="0">
            <a:spAutoFit/>
          </a:bodyPr>
          <a:lstStyle/>
          <a:p>
            <a:r>
              <a:rPr lang="en-IN" sz="2100" dirty="0">
                <a:latin typeface="Times New Roman" panose="02020603050405020304" pitchFamily="18" charset="0"/>
                <a:cs typeface="Times New Roman" panose="02020603050405020304" pitchFamily="18" charset="0"/>
              </a:rPr>
              <a:t>Team Members:</a:t>
            </a:r>
          </a:p>
          <a:p>
            <a:r>
              <a:rPr lang="en-IN" sz="2100" dirty="0" err="1">
                <a:latin typeface="Times New Roman" panose="02020603050405020304" pitchFamily="18" charset="0"/>
                <a:cs typeface="Times New Roman" panose="02020603050405020304" pitchFamily="18" charset="0"/>
              </a:rPr>
              <a:t>Danvitha</a:t>
            </a:r>
            <a:r>
              <a:rPr lang="en-IN" sz="2100" dirty="0">
                <a:latin typeface="Times New Roman" panose="02020603050405020304" pitchFamily="18" charset="0"/>
                <a:cs typeface="Times New Roman" panose="02020603050405020304" pitchFamily="18" charset="0"/>
              </a:rPr>
              <a:t> D                           - 4DM21IS012</a:t>
            </a:r>
          </a:p>
          <a:p>
            <a:r>
              <a:rPr lang="en-IN" sz="2100" dirty="0" err="1">
                <a:latin typeface="Times New Roman" panose="02020603050405020304" pitchFamily="18" charset="0"/>
                <a:cs typeface="Times New Roman" panose="02020603050405020304" pitchFamily="18" charset="0"/>
              </a:rPr>
              <a:t>Pradhvini</a:t>
            </a:r>
            <a:r>
              <a:rPr lang="en-IN" sz="2100" dirty="0">
                <a:latin typeface="Times New Roman" panose="02020603050405020304" pitchFamily="18" charset="0"/>
                <a:cs typeface="Times New Roman" panose="02020603050405020304" pitchFamily="18" charset="0"/>
              </a:rPr>
              <a:t> M P                      - 4DM21IS042</a:t>
            </a:r>
          </a:p>
          <a:p>
            <a:r>
              <a:rPr lang="en-IN" sz="2100" dirty="0">
                <a:latin typeface="Times New Roman" panose="02020603050405020304" pitchFamily="18" charset="0"/>
                <a:cs typeface="Times New Roman" panose="02020603050405020304" pitchFamily="18" charset="0"/>
              </a:rPr>
              <a:t>Rachel Jacob Fernandes 	    - 4DM21IS043</a:t>
            </a:r>
          </a:p>
          <a:p>
            <a:r>
              <a:rPr lang="en-IN" sz="2100" dirty="0" err="1">
                <a:latin typeface="Times New Roman" panose="02020603050405020304" pitchFamily="18" charset="0"/>
                <a:cs typeface="Times New Roman" panose="02020603050405020304" pitchFamily="18" charset="0"/>
              </a:rPr>
              <a:t>Thripada</a:t>
            </a:r>
            <a:r>
              <a:rPr lang="en-IN" sz="2100" dirty="0">
                <a:latin typeface="Times New Roman" panose="02020603050405020304" pitchFamily="18" charset="0"/>
                <a:cs typeface="Times New Roman" panose="02020603050405020304" pitchFamily="18" charset="0"/>
              </a:rPr>
              <a:t> P                            - 4DM21IS058</a:t>
            </a:r>
          </a:p>
        </p:txBody>
      </p:sp>
      <p:sp>
        <p:nvSpPr>
          <p:cNvPr id="3" name="TextBox 2">
            <a:extLst>
              <a:ext uri="{FF2B5EF4-FFF2-40B4-BE49-F238E27FC236}">
                <a16:creationId xmlns:a16="http://schemas.microsoft.com/office/drawing/2014/main" id="{7A1B3F81-D82A-68A6-B65E-214471D37B4B}"/>
              </a:ext>
            </a:extLst>
          </p:cNvPr>
          <p:cNvSpPr txBox="1"/>
          <p:nvPr/>
        </p:nvSpPr>
        <p:spPr>
          <a:xfrm>
            <a:off x="1518396" y="2494628"/>
            <a:ext cx="8651408" cy="1415772"/>
          </a:xfrm>
          <a:prstGeom prst="rect">
            <a:avLst/>
          </a:prstGeom>
          <a:noFill/>
        </p:spPr>
        <p:txBody>
          <a:bodyPr wrap="square" rtlCol="0">
            <a:spAutoFit/>
          </a:bodyPr>
          <a:lstStyle/>
          <a:p>
            <a:pPr algn="ctr"/>
            <a:r>
              <a:rPr lang="en-IN" kern="100" dirty="0">
                <a:effectLst/>
                <a:latin typeface="Times New Roman" panose="02020603050405020304" pitchFamily="18" charset="0"/>
                <a:ea typeface="Calibri" panose="020F0502020204030204" pitchFamily="34" charset="0"/>
              </a:rPr>
              <a:t>Project Presentation on</a:t>
            </a:r>
          </a:p>
          <a:p>
            <a:pPr algn="ctr"/>
            <a:endParaRPr lang="en-IN" kern="100" dirty="0">
              <a:effectLst/>
              <a:latin typeface="Times New Roman" panose="02020603050405020304" pitchFamily="18" charset="0"/>
              <a:ea typeface="Calibri" panose="020F0502020204030204" pitchFamily="34" charset="0"/>
            </a:endParaRPr>
          </a:p>
          <a:p>
            <a:pPr algn="ctr"/>
            <a:r>
              <a:rPr lang="en-IN" sz="2600" b="1" kern="100" dirty="0">
                <a:effectLst/>
                <a:latin typeface="Times New Roman" panose="02020603050405020304" pitchFamily="18" charset="0"/>
                <a:ea typeface="Calibri" panose="020F0502020204030204" pitchFamily="34" charset="0"/>
              </a:rPr>
              <a:t>SAFELDA</a:t>
            </a:r>
          </a:p>
          <a:p>
            <a:pPr algn="ctr"/>
            <a:r>
              <a:rPr lang="en-IN" sz="2400" b="1" kern="100" dirty="0">
                <a:effectLst/>
                <a:latin typeface="Times New Roman" panose="02020603050405020304" pitchFamily="18" charset="0"/>
                <a:ea typeface="Calibri" panose="020F0502020204030204" pitchFamily="34" charset="0"/>
              </a:rPr>
              <a:t> (Safe Fall Detection and Protection for Aged People) </a:t>
            </a:r>
            <a:endParaRPr lang="en-IN" sz="24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76A58C04-ECF7-CEDE-89AA-2B0C12994609}"/>
              </a:ext>
            </a:extLst>
          </p:cNvPr>
          <p:cNvSpPr txBox="1"/>
          <p:nvPr/>
        </p:nvSpPr>
        <p:spPr>
          <a:xfrm>
            <a:off x="2153265" y="1598136"/>
            <a:ext cx="6872748"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Department of Information Science &amp; Engineering </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806820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097280" y="461174"/>
            <a:ext cx="8425035" cy="5447645"/>
          </a:xfrm>
          <a:prstGeom prst="rect">
            <a:avLst/>
          </a:prstGeom>
          <a:noFill/>
        </p:spPr>
        <p:txBody>
          <a:bodyPr wrap="square" rtlCol="0">
            <a:spAutoFit/>
          </a:bodyPr>
          <a:lstStyle/>
          <a:p>
            <a:endParaRPr lang="en-IN" sz="3600" b="1" u="sng" dirty="0">
              <a:latin typeface="Times New Roman" panose="02020603050405020304" pitchFamily="18" charset="0"/>
              <a:cs typeface="Times New Roman" panose="02020603050405020304" pitchFamily="18" charset="0"/>
            </a:endParaRPr>
          </a:p>
          <a:p>
            <a:r>
              <a:rPr lang="en-IN" sz="3600" b="1" u="sng" dirty="0">
                <a:latin typeface="Times New Roman" panose="02020603050405020304" pitchFamily="18" charset="0"/>
                <a:cs typeface="Times New Roman" panose="02020603050405020304" pitchFamily="18" charset="0"/>
              </a:rPr>
              <a:t>CONTENTS:</a:t>
            </a:r>
          </a:p>
          <a:p>
            <a:endParaRPr lang="en-IN" sz="36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sz="2400" kern="100" dirty="0">
                <a:latin typeface="Times New Roman" panose="02020603050405020304" pitchFamily="18" charset="0"/>
                <a:ea typeface="Calibri" panose="020F0502020204030204" pitchFamily="34" charset="0"/>
                <a:cs typeface="Times New Roman" panose="02020603050405020304" pitchFamily="18" charset="0"/>
              </a:rPr>
              <a:t>Abstract</a:t>
            </a:r>
            <a:r>
              <a:rPr lang="en-IN" sz="2400" dirty="0">
                <a:latin typeface="Times New Roman" panose="02020603050405020304" pitchFamily="18" charset="0"/>
                <a:cs typeface="Times New Roman" panose="02020603050405020304" pitchFamily="18" charset="0"/>
              </a:rPr>
              <a:t>                                                     03</a:t>
            </a:r>
            <a:endParaRPr lang="en-IN" sz="2400" kern="100" dirty="0">
              <a:latin typeface="Times New Roman" panose="02020603050405020304" pitchFamily="18" charset="0"/>
              <a:ea typeface="Calibri" panose="020F0502020204030204" pitchFamily="34" charset="0"/>
              <a:cs typeface="Times New Roman" panose="02020603050405020304" pitchFamily="18" charset="0"/>
            </a:endParaRPr>
          </a:p>
          <a:p>
            <a:pPr marL="285750" indent="-285750">
              <a:buFont typeface="Wingdings" panose="05000000000000000000" pitchFamily="2" charset="2"/>
              <a:buChar char="Ø"/>
            </a:pPr>
            <a:r>
              <a:rPr lang="en-IN" sz="2400" kern="100" dirty="0">
                <a:latin typeface="Times New Roman" panose="02020603050405020304" pitchFamily="18" charset="0"/>
                <a:ea typeface="Calibri" panose="020F0502020204030204" pitchFamily="34" charset="0"/>
                <a:cs typeface="Times New Roman" panose="02020603050405020304" pitchFamily="18" charset="0"/>
              </a:rPr>
              <a:t>Introduction                                               04</a:t>
            </a:r>
            <a:endParaRPr lang="en-IN" sz="24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Literature Survey                                       05-06</a:t>
            </a:r>
          </a:p>
          <a:p>
            <a:pPr marL="285750" indent="-28575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Platform Used                                            07-08</a:t>
            </a:r>
          </a:p>
          <a:p>
            <a:pPr marL="285750" indent="-28575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Problem Statement and solution                 09</a:t>
            </a:r>
          </a:p>
          <a:p>
            <a:pPr marL="285750" indent="-28575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System proposed                                        10</a:t>
            </a:r>
          </a:p>
          <a:p>
            <a:pPr marL="285750" indent="-28575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System Implementation                              11</a:t>
            </a:r>
          </a:p>
          <a:p>
            <a:pPr marL="285750" indent="-28575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Snapshots                                                    12 </a:t>
            </a:r>
          </a:p>
          <a:p>
            <a:pPr marL="285750" indent="-28575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Result                                                          13    </a:t>
            </a:r>
          </a:p>
          <a:p>
            <a:r>
              <a:rPr lang="en-IN" sz="2400" dirty="0">
                <a:latin typeface="Times New Roman" panose="02020603050405020304" pitchFamily="18" charset="0"/>
                <a:cs typeface="Times New Roman" panose="02020603050405020304" pitchFamily="18" charset="0"/>
              </a:rPr>
              <a:t>                                     </a:t>
            </a:r>
          </a:p>
        </p:txBody>
      </p:sp>
      <p:sp>
        <p:nvSpPr>
          <p:cNvPr id="6" name="Date Placeholder 5">
            <a:extLst>
              <a:ext uri="{FF2B5EF4-FFF2-40B4-BE49-F238E27FC236}">
                <a16:creationId xmlns:a16="http://schemas.microsoft.com/office/drawing/2014/main" id="{24BFB8BA-50B0-D749-FBDE-DF27F35FE215}"/>
              </a:ext>
            </a:extLst>
          </p:cNvPr>
          <p:cNvSpPr>
            <a:spLocks noGrp="1"/>
          </p:cNvSpPr>
          <p:nvPr>
            <p:ph type="dt" sz="half" idx="10"/>
          </p:nvPr>
        </p:nvSpPr>
        <p:spPr/>
        <p:txBody>
          <a:bodyPr/>
          <a:lstStyle/>
          <a:p>
            <a:r>
              <a:rPr lang="en-US" sz="1200">
                <a:latin typeface="Times New Roman" panose="02020603050405020304" pitchFamily="18" charset="0"/>
                <a:cs typeface="Times New Roman" panose="02020603050405020304" pitchFamily="18" charset="0"/>
              </a:rPr>
              <a:t>Dept. of ISE</a:t>
            </a:r>
            <a:endParaRPr lang="en-US" sz="1200" dirty="0">
              <a:latin typeface="Times New Roman" panose="02020603050405020304" pitchFamily="18" charset="0"/>
              <a:cs typeface="Times New Roman" panose="02020603050405020304" pitchFamily="18" charset="0"/>
            </a:endParaRPr>
          </a:p>
        </p:txBody>
      </p:sp>
      <p:sp>
        <p:nvSpPr>
          <p:cNvPr id="7" name="Footer Placeholder 6">
            <a:extLst>
              <a:ext uri="{FF2B5EF4-FFF2-40B4-BE49-F238E27FC236}">
                <a16:creationId xmlns:a16="http://schemas.microsoft.com/office/drawing/2014/main" id="{D357221C-AE94-9F45-05B9-1BBB48562DCB}"/>
              </a:ext>
            </a:extLst>
          </p:cNvPr>
          <p:cNvSpPr>
            <a:spLocks noGrp="1"/>
          </p:cNvSpPr>
          <p:nvPr>
            <p:ph type="ftr" sz="quarter" idx="11"/>
          </p:nvPr>
        </p:nvSpPr>
        <p:spPr/>
        <p:txBody>
          <a:bodyPr/>
          <a:lstStyle/>
          <a:p>
            <a:r>
              <a:rPr lang="en-US" sz="1200">
                <a:latin typeface="Times New Roman" panose="02020603050405020304" pitchFamily="18" charset="0"/>
                <a:cs typeface="Times New Roman" panose="02020603050405020304" pitchFamily="18" charset="0"/>
              </a:rPr>
              <a:t>10-02-2025</a:t>
            </a:r>
            <a:endParaRPr lang="en-US" sz="1200" dirty="0">
              <a:latin typeface="Times New Roman" panose="02020603050405020304" pitchFamily="18"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id="{5525CA00-3786-F466-DE74-C662605A3692}"/>
              </a:ext>
            </a:extLst>
          </p:cNvPr>
          <p:cNvSpPr>
            <a:spLocks noGrp="1"/>
          </p:cNvSpPr>
          <p:nvPr>
            <p:ph type="sldNum" sz="quarter" idx="12"/>
          </p:nvPr>
        </p:nvSpPr>
        <p:spPr/>
        <p:txBody>
          <a:bodyPr/>
          <a:lstStyle/>
          <a:p>
            <a:fld id="{4FAB73BC-B049-4115-A692-8D63A059BFB8}" type="slidenum">
              <a:rPr lang="en-US" sz="1200" smtClean="0">
                <a:latin typeface="Times New Roman" panose="02020603050405020304" pitchFamily="18" charset="0"/>
                <a:cs typeface="Times New Roman" panose="02020603050405020304" pitchFamily="18" charset="0"/>
              </a:rPr>
              <a:pPr/>
              <a:t>2</a:t>
            </a:fld>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225330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461E270C-5713-AC09-4BC1-3FDC324102B9}"/>
              </a:ext>
            </a:extLst>
          </p:cNvPr>
          <p:cNvSpPr>
            <a:spLocks noGrp="1"/>
          </p:cNvSpPr>
          <p:nvPr>
            <p:ph type="dt" sz="half" idx="10"/>
          </p:nvPr>
        </p:nvSpPr>
        <p:spPr/>
        <p:txBody>
          <a:bodyPr/>
          <a:lstStyle/>
          <a:p>
            <a:r>
              <a:rPr lang="en-US" sz="1200">
                <a:latin typeface="Times New Roman" panose="02020603050405020304" pitchFamily="18" charset="0"/>
                <a:cs typeface="Times New Roman" panose="02020603050405020304" pitchFamily="18" charset="0"/>
              </a:rPr>
              <a:t>Dept. of ISE</a:t>
            </a:r>
            <a:endParaRPr lang="en-US" sz="1200" dirty="0">
              <a:latin typeface="Times New Roman" panose="02020603050405020304" pitchFamily="18" charset="0"/>
              <a:cs typeface="Times New Roman" panose="02020603050405020304" pitchFamily="18" charset="0"/>
            </a:endParaRPr>
          </a:p>
        </p:txBody>
      </p:sp>
      <p:sp>
        <p:nvSpPr>
          <p:cNvPr id="8" name="Footer Placeholder 7">
            <a:extLst>
              <a:ext uri="{FF2B5EF4-FFF2-40B4-BE49-F238E27FC236}">
                <a16:creationId xmlns:a16="http://schemas.microsoft.com/office/drawing/2014/main" id="{27704DE8-10C7-07E9-CE89-22C826474405}"/>
              </a:ext>
            </a:extLst>
          </p:cNvPr>
          <p:cNvSpPr>
            <a:spLocks noGrp="1"/>
          </p:cNvSpPr>
          <p:nvPr>
            <p:ph type="ftr" sz="quarter" idx="11"/>
          </p:nvPr>
        </p:nvSpPr>
        <p:spPr/>
        <p:txBody>
          <a:bodyPr/>
          <a:lstStyle/>
          <a:p>
            <a:r>
              <a:rPr lang="en-US" sz="1200">
                <a:latin typeface="Times New Roman" panose="02020603050405020304" pitchFamily="18" charset="0"/>
                <a:cs typeface="Times New Roman" panose="02020603050405020304" pitchFamily="18" charset="0"/>
              </a:rPr>
              <a:t>10-02-2025</a:t>
            </a:r>
            <a:endParaRPr lang="en-US" sz="1200" dirty="0">
              <a:latin typeface="Times New Roman" panose="02020603050405020304" pitchFamily="18" charset="0"/>
              <a:cs typeface="Times New Roman" panose="02020603050405020304" pitchFamily="18" charset="0"/>
            </a:endParaRPr>
          </a:p>
        </p:txBody>
      </p:sp>
      <p:sp>
        <p:nvSpPr>
          <p:cNvPr id="9" name="Slide Number Placeholder 8">
            <a:extLst>
              <a:ext uri="{FF2B5EF4-FFF2-40B4-BE49-F238E27FC236}">
                <a16:creationId xmlns:a16="http://schemas.microsoft.com/office/drawing/2014/main" id="{D4E51463-32E1-3A0A-6A47-2D76978993D8}"/>
              </a:ext>
            </a:extLst>
          </p:cNvPr>
          <p:cNvSpPr>
            <a:spLocks noGrp="1"/>
          </p:cNvSpPr>
          <p:nvPr>
            <p:ph type="sldNum" sz="quarter" idx="12"/>
          </p:nvPr>
        </p:nvSpPr>
        <p:spPr/>
        <p:txBody>
          <a:bodyPr/>
          <a:lstStyle/>
          <a:p>
            <a:fld id="{4FAB73BC-B049-4115-A692-8D63A059BFB8}" type="slidenum">
              <a:rPr lang="en-US" sz="1200" smtClean="0">
                <a:latin typeface="Times New Roman" panose="02020603050405020304" pitchFamily="18" charset="0"/>
                <a:cs typeface="Times New Roman" panose="02020603050405020304" pitchFamily="18" charset="0"/>
              </a:rPr>
              <a:pPr/>
              <a:t>3</a:t>
            </a:fld>
            <a:endParaRPr lang="en-US" sz="1200" dirty="0">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BA8D2ACF-1790-C9D6-FBF2-5EC3AA162B81}"/>
              </a:ext>
            </a:extLst>
          </p:cNvPr>
          <p:cNvSpPr>
            <a:spLocks noChangeArrowheads="1"/>
          </p:cNvSpPr>
          <p:nvPr/>
        </p:nvSpPr>
        <p:spPr bwMode="auto">
          <a:xfrm>
            <a:off x="900009" y="1745718"/>
            <a:ext cx="10353675" cy="336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272415" indent="-285750" algn="just">
              <a:lnSpc>
                <a:spcPct val="150000"/>
              </a:lnSpc>
              <a:buFont typeface="Arial" panose="020B0604020202020204" pitchFamily="34" charset="0"/>
              <a:buChar char="•"/>
            </a:pPr>
            <a:r>
              <a:rPr lang="en-IN" sz="1800" b="1" dirty="0">
                <a:effectLst/>
                <a:latin typeface="Times New Roman" panose="02020603050405020304" pitchFamily="18" charset="0"/>
                <a:ea typeface="Times New Roman" panose="02020603050405020304" pitchFamily="18" charset="0"/>
              </a:rPr>
              <a:t>SAFELDA</a:t>
            </a:r>
            <a:r>
              <a:rPr lang="en-IN" sz="1800" dirty="0">
                <a:effectLst/>
                <a:latin typeface="Times New Roman" panose="02020603050405020304" pitchFamily="18" charset="0"/>
                <a:ea typeface="Times New Roman" panose="02020603050405020304" pitchFamily="18" charset="0"/>
              </a:rPr>
              <a:t> addresses the critical issue of fall-related injuries among elderly individuals by combining cutting-edge IoT technology with advanced safety features. </a:t>
            </a:r>
          </a:p>
          <a:p>
            <a:pPr marL="285750" marR="272415" indent="-285750" algn="just">
              <a:lnSpc>
                <a:spcPct val="150000"/>
              </a:lnSpc>
              <a:buFont typeface="Arial" panose="020B0604020202020204" pitchFamily="34" charset="0"/>
              <a:buChar char="•"/>
            </a:pPr>
            <a:r>
              <a:rPr lang="en-IN" sz="1800" dirty="0">
                <a:effectLst/>
                <a:latin typeface="Times New Roman" panose="02020603050405020304" pitchFamily="18" charset="0"/>
                <a:ea typeface="Times New Roman" panose="02020603050405020304" pitchFamily="18" charset="0"/>
              </a:rPr>
              <a:t>The system’s wearable device continuously monitors the user’s movements, and in the event of a fall, it automatically triggers an alert that is sent to caregivers or family members, along with the GPS location of the incident.  </a:t>
            </a:r>
          </a:p>
          <a:p>
            <a:pPr marL="285750" marR="272415" indent="-285750" algn="just">
              <a:lnSpc>
                <a:spcPct val="150000"/>
              </a:lnSpc>
              <a:buFont typeface="Arial" panose="020B0604020202020204" pitchFamily="34" charset="0"/>
              <a:buChar char="•"/>
            </a:pPr>
            <a:r>
              <a:rPr lang="en-IN" sz="1800" dirty="0">
                <a:effectLst/>
                <a:latin typeface="Times New Roman" panose="02020603050405020304" pitchFamily="18" charset="0"/>
                <a:ea typeface="Times New Roman" panose="02020603050405020304" pitchFamily="18" charset="0"/>
              </a:rPr>
              <a:t>Through its combination of real-time monitoring, personalized detection, and physical protection, SAFELDA offers a comprehensive solution to one of the most pressing safety issues faced by the elderly population.</a:t>
            </a:r>
          </a:p>
        </p:txBody>
      </p:sp>
      <p:sp>
        <p:nvSpPr>
          <p:cNvPr id="4" name="TextBox 3">
            <a:extLst>
              <a:ext uri="{FF2B5EF4-FFF2-40B4-BE49-F238E27FC236}">
                <a16:creationId xmlns:a16="http://schemas.microsoft.com/office/drawing/2014/main" id="{0CA1A24F-464A-236B-D525-111992E96F01}"/>
              </a:ext>
            </a:extLst>
          </p:cNvPr>
          <p:cNvSpPr txBox="1"/>
          <p:nvPr/>
        </p:nvSpPr>
        <p:spPr>
          <a:xfrm>
            <a:off x="900009" y="865611"/>
            <a:ext cx="1433406" cy="461665"/>
          </a:xfrm>
          <a:prstGeom prst="rect">
            <a:avLst/>
          </a:prstGeom>
          <a:noFill/>
        </p:spPr>
        <p:txBody>
          <a:bodyPr wrap="none" rtlCol="0">
            <a:spAutoFit/>
          </a:bodyPr>
          <a:lstStyle/>
          <a:p>
            <a:r>
              <a:rPr lang="en-IN" sz="2400" b="1" dirty="0">
                <a:latin typeface="Times New Roman" panose="02020603050405020304" pitchFamily="18" charset="0"/>
                <a:cs typeface="Times New Roman" panose="02020603050405020304" pitchFamily="18" charset="0"/>
              </a:rPr>
              <a:t>Abstract:</a:t>
            </a:r>
          </a:p>
        </p:txBody>
      </p:sp>
    </p:spTree>
    <p:extLst>
      <p:ext uri="{BB962C8B-B14F-4D97-AF65-F5344CB8AC3E}">
        <p14:creationId xmlns:p14="http://schemas.microsoft.com/office/powerpoint/2010/main" val="35587245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B946FA-264D-EA70-FB49-94549C6ECE7C}"/>
              </a:ext>
            </a:extLst>
          </p:cNvPr>
          <p:cNvSpPr>
            <a:spLocks noGrp="1"/>
          </p:cNvSpPr>
          <p:nvPr>
            <p:ph type="dt" sz="half" idx="10"/>
          </p:nvPr>
        </p:nvSpPr>
        <p:spPr/>
        <p:txBody>
          <a:bodyPr/>
          <a:lstStyle/>
          <a:p>
            <a:r>
              <a:rPr lang="en-US" sz="1200">
                <a:latin typeface="Times New Roman" panose="02020603050405020304" pitchFamily="18" charset="0"/>
                <a:cs typeface="Times New Roman" panose="02020603050405020304" pitchFamily="18" charset="0"/>
              </a:rPr>
              <a:t>Dept. of ISE</a:t>
            </a:r>
            <a:endParaRPr lang="en-US" sz="1200" dirty="0">
              <a:latin typeface="Times New Roman" panose="02020603050405020304" pitchFamily="18"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3EFC2A73-32AD-AAB7-253E-D753CCC6DAD0}"/>
              </a:ext>
            </a:extLst>
          </p:cNvPr>
          <p:cNvSpPr>
            <a:spLocks noGrp="1"/>
          </p:cNvSpPr>
          <p:nvPr>
            <p:ph type="ftr" sz="quarter" idx="11"/>
          </p:nvPr>
        </p:nvSpPr>
        <p:spPr/>
        <p:txBody>
          <a:bodyPr/>
          <a:lstStyle/>
          <a:p>
            <a:r>
              <a:rPr lang="en-US" sz="1200">
                <a:latin typeface="Times New Roman" panose="02020603050405020304" pitchFamily="18" charset="0"/>
                <a:cs typeface="Times New Roman" panose="02020603050405020304" pitchFamily="18" charset="0"/>
              </a:rPr>
              <a:t>10-02-2025</a:t>
            </a:r>
            <a:endParaRPr lang="en-US" sz="12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D334F701-D1A5-E4ED-54EE-1F0E04D17273}"/>
              </a:ext>
            </a:extLst>
          </p:cNvPr>
          <p:cNvSpPr>
            <a:spLocks noGrp="1"/>
          </p:cNvSpPr>
          <p:nvPr>
            <p:ph type="sldNum" sz="quarter" idx="12"/>
          </p:nvPr>
        </p:nvSpPr>
        <p:spPr/>
        <p:txBody>
          <a:bodyPr/>
          <a:lstStyle/>
          <a:p>
            <a:fld id="{4FAB73BC-B049-4115-A692-8D63A059BFB8}" type="slidenum">
              <a:rPr lang="en-US" sz="1200" smtClean="0">
                <a:latin typeface="Times New Roman" panose="02020603050405020304" pitchFamily="18" charset="0"/>
                <a:cs typeface="Times New Roman" panose="02020603050405020304" pitchFamily="18" charset="0"/>
              </a:rPr>
              <a:pPr/>
              <a:t>4</a:t>
            </a:fld>
            <a:endParaRPr lang="en-US" sz="12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63A7B5A-5599-C4F9-6303-4A631F58A707}"/>
              </a:ext>
            </a:extLst>
          </p:cNvPr>
          <p:cNvSpPr txBox="1"/>
          <p:nvPr/>
        </p:nvSpPr>
        <p:spPr>
          <a:xfrm>
            <a:off x="772815" y="500504"/>
            <a:ext cx="4822804"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Introduction:</a:t>
            </a:r>
            <a:endParaRPr lang="en-IN" sz="24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F603C960-6849-261D-6C95-B1D993D0B181}"/>
              </a:ext>
            </a:extLst>
          </p:cNvPr>
          <p:cNvSpPr txBox="1"/>
          <p:nvPr/>
        </p:nvSpPr>
        <p:spPr>
          <a:xfrm>
            <a:off x="772815" y="1745718"/>
            <a:ext cx="10439668" cy="3366563"/>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SAFELDA is an IoT-based wearable aimed at ensuring the safety of elderly individuals.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Detects falls and sends immediate alerts with  GPS location to caregivers.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Features a protective airbag mechanism that inflates to reduce injury upon a fall.</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Uses machine learning for personalized fall detection, reducing false alarms.</a:t>
            </a:r>
          </a:p>
          <a:p>
            <a:pPr marL="285750" indent="-285750" algn="just">
              <a:lnSpc>
                <a:spcPct val="150000"/>
              </a:lnSpc>
              <a:buFont typeface="Arial" panose="020B0604020202020204" pitchFamily="34" charset="0"/>
              <a:buChar char="•"/>
            </a:pP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This project not only aims to safeguard the elderly from the physical impact of falls but also provides peace of mind for caregivers and family members through its comprehensive monitoring and alert system.</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IN" kern="100" dirty="0">
                <a:effectLst/>
                <a:latin typeface="Times New Roman" panose="02020603050405020304" pitchFamily="18" charset="0"/>
                <a:ea typeface="Calibri" panose="020F0502020204030204" pitchFamily="34" charset="0"/>
              </a:rPr>
              <a:t>Reduces injury risk with an airbag mechanism and customizes fall detection using machine learning.</a:t>
            </a:r>
            <a:endParaRPr lang="en-US"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68905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736DAFA-2F21-6EA9-9BA9-0A4F2DE9552A}"/>
              </a:ext>
            </a:extLst>
          </p:cNvPr>
          <p:cNvSpPr>
            <a:spLocks noGrp="1"/>
          </p:cNvSpPr>
          <p:nvPr>
            <p:ph type="dt" sz="half" idx="10"/>
          </p:nvPr>
        </p:nvSpPr>
        <p:spPr/>
        <p:txBody>
          <a:bodyPr/>
          <a:lstStyle/>
          <a:p>
            <a:r>
              <a:rPr lang="en-US" sz="1200">
                <a:latin typeface="Times New Roman" panose="02020603050405020304" pitchFamily="18" charset="0"/>
                <a:cs typeface="Times New Roman" panose="02020603050405020304" pitchFamily="18" charset="0"/>
              </a:rPr>
              <a:t>Dept. of ISE</a:t>
            </a:r>
            <a:endParaRPr lang="en-US" sz="1200" dirty="0">
              <a:latin typeface="Times New Roman" panose="02020603050405020304" pitchFamily="18"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5AD99A96-B88F-8388-F092-16EE94DF0CE6}"/>
              </a:ext>
            </a:extLst>
          </p:cNvPr>
          <p:cNvSpPr>
            <a:spLocks noGrp="1"/>
          </p:cNvSpPr>
          <p:nvPr>
            <p:ph type="ftr" sz="quarter" idx="11"/>
          </p:nvPr>
        </p:nvSpPr>
        <p:spPr/>
        <p:txBody>
          <a:bodyPr/>
          <a:lstStyle/>
          <a:p>
            <a:r>
              <a:rPr lang="en-US" sz="1200">
                <a:latin typeface="Times New Roman" panose="02020603050405020304" pitchFamily="18" charset="0"/>
                <a:cs typeface="Times New Roman" panose="02020603050405020304" pitchFamily="18" charset="0"/>
              </a:rPr>
              <a:t>10-02-2025</a:t>
            </a:r>
            <a:endParaRPr lang="en-US" sz="12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26EFD02-ED6D-3575-1CF2-62DAE4DF870C}"/>
              </a:ext>
            </a:extLst>
          </p:cNvPr>
          <p:cNvSpPr>
            <a:spLocks noGrp="1"/>
          </p:cNvSpPr>
          <p:nvPr>
            <p:ph type="sldNum" sz="quarter" idx="12"/>
          </p:nvPr>
        </p:nvSpPr>
        <p:spPr/>
        <p:txBody>
          <a:bodyPr/>
          <a:lstStyle/>
          <a:p>
            <a:fld id="{4FAB73BC-B049-4115-A692-8D63A059BFB8}" type="slidenum">
              <a:rPr lang="en-US" sz="1200" smtClean="0">
                <a:latin typeface="Times New Roman" panose="02020603050405020304" pitchFamily="18" charset="0"/>
                <a:cs typeface="Times New Roman" panose="02020603050405020304" pitchFamily="18" charset="0"/>
              </a:rPr>
              <a:pPr/>
              <a:t>5</a:t>
            </a:fld>
            <a:endParaRPr lang="en-US" sz="12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05B76F2-6ADA-10F7-4488-B1654015C478}"/>
              </a:ext>
            </a:extLst>
          </p:cNvPr>
          <p:cNvSpPr txBox="1"/>
          <p:nvPr/>
        </p:nvSpPr>
        <p:spPr>
          <a:xfrm>
            <a:off x="922512" y="605776"/>
            <a:ext cx="4822804"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  Literature Survey:</a:t>
            </a:r>
            <a:endParaRPr lang="en-IN" sz="24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6A4F16E-42A8-B10F-ED20-548CCE07BDB4}"/>
              </a:ext>
            </a:extLst>
          </p:cNvPr>
          <p:cNvSpPr txBox="1"/>
          <p:nvPr/>
        </p:nvSpPr>
        <p:spPr>
          <a:xfrm>
            <a:off x="1097280" y="1551709"/>
            <a:ext cx="10443556" cy="3477875"/>
          </a:xfrm>
          <a:prstGeom prst="rect">
            <a:avLst/>
          </a:prstGeom>
          <a:noFill/>
        </p:spPr>
        <p:txBody>
          <a:bodyPr wrap="square" rtlCol="0">
            <a:spAutoFit/>
          </a:bodyPr>
          <a:lstStyle/>
          <a:p>
            <a:pPr marL="342900" indent="-342900" algn="just">
              <a:buAutoNum type="arabicPeriod"/>
            </a:pPr>
            <a:r>
              <a:rPr lang="en-US" sz="2000" b="1" dirty="0">
                <a:latin typeface="Times New Roman" panose="02020603050405020304" pitchFamily="18" charset="0"/>
                <a:cs typeface="Times New Roman" panose="02020603050405020304" pitchFamily="18" charset="0"/>
              </a:rPr>
              <a:t>IoT Based Fall Detection System for Elderly/Physically Challenged People:</a:t>
            </a:r>
          </a:p>
          <a:p>
            <a:pPr algn="just"/>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Fall is the one of the leading problems among elderly and physically challenged people. Fall detection is the major challenge in public health care domain. </a:t>
            </a:r>
          </a:p>
          <a:p>
            <a:pPr algn="just"/>
            <a:endParaRPr lang="en-US"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a:p>
            <a:pPr algn="just"/>
            <a:r>
              <a:rPr lang="en-IN" sz="2000" b="1" dirty="0">
                <a:latin typeface="Times New Roman" panose="02020603050405020304" pitchFamily="18" charset="0"/>
                <a:cs typeface="Times New Roman" panose="02020603050405020304" pitchFamily="18" charset="0"/>
              </a:rPr>
              <a:t>  Disadvantages:</a:t>
            </a:r>
            <a:endParaRPr lang="en-US" sz="2000" b="1"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Complexity: Any failure or errors in the software or hardware, power cut will cost serious troubles &amp;  made us uncomfortable.</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Privacy/Security: While device provide extensive data activity and wellness, numerous tests demonstrates that the information isn't 100% precise and not by any means 80% once in a while.</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51047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E62C8ED-3B89-92E1-6AAD-3E237D94DA7F}"/>
              </a:ext>
            </a:extLst>
          </p:cNvPr>
          <p:cNvSpPr>
            <a:spLocks noGrp="1"/>
          </p:cNvSpPr>
          <p:nvPr>
            <p:ph type="dt" sz="half" idx="10"/>
          </p:nvPr>
        </p:nvSpPr>
        <p:spPr/>
        <p:txBody>
          <a:bodyPr/>
          <a:lstStyle/>
          <a:p>
            <a:r>
              <a:rPr lang="en-US" sz="1200">
                <a:latin typeface="Times New Roman" panose="02020603050405020304" pitchFamily="18" charset="0"/>
                <a:cs typeface="Times New Roman" panose="02020603050405020304" pitchFamily="18" charset="0"/>
              </a:rPr>
              <a:t>Dept. of ISE</a:t>
            </a:r>
            <a:endParaRPr lang="en-US" sz="1200" dirty="0">
              <a:latin typeface="Times New Roman" panose="02020603050405020304" pitchFamily="18"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8836BBFE-AEBA-4EEA-782B-6F62668F96AB}"/>
              </a:ext>
            </a:extLst>
          </p:cNvPr>
          <p:cNvSpPr>
            <a:spLocks noGrp="1"/>
          </p:cNvSpPr>
          <p:nvPr>
            <p:ph type="ftr" sz="quarter" idx="11"/>
          </p:nvPr>
        </p:nvSpPr>
        <p:spPr/>
        <p:txBody>
          <a:bodyPr/>
          <a:lstStyle/>
          <a:p>
            <a:r>
              <a:rPr lang="en-US" sz="1200">
                <a:latin typeface="Times New Roman" panose="02020603050405020304" pitchFamily="18" charset="0"/>
                <a:cs typeface="Times New Roman" panose="02020603050405020304" pitchFamily="18" charset="0"/>
              </a:rPr>
              <a:t>10-02-2025</a:t>
            </a:r>
            <a:endParaRPr lang="en-US" sz="12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CADC78C-8BA9-439E-780B-4F66F146E9A6}"/>
              </a:ext>
            </a:extLst>
          </p:cNvPr>
          <p:cNvSpPr>
            <a:spLocks noGrp="1"/>
          </p:cNvSpPr>
          <p:nvPr>
            <p:ph type="sldNum" sz="quarter" idx="12"/>
          </p:nvPr>
        </p:nvSpPr>
        <p:spPr/>
        <p:txBody>
          <a:bodyPr/>
          <a:lstStyle/>
          <a:p>
            <a:fld id="{4FAB73BC-B049-4115-A692-8D63A059BFB8}" type="slidenum">
              <a:rPr lang="en-US" sz="1200" smtClean="0">
                <a:latin typeface="Times New Roman" panose="02020603050405020304" pitchFamily="18" charset="0"/>
                <a:cs typeface="Times New Roman" panose="02020603050405020304" pitchFamily="18" charset="0"/>
              </a:rPr>
              <a:pPr/>
              <a:t>6</a:t>
            </a:fld>
            <a:endParaRPr lang="en-US" sz="12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50C5ECD-87A6-E6C1-EA99-DD0D018FB809}"/>
              </a:ext>
            </a:extLst>
          </p:cNvPr>
          <p:cNvSpPr txBox="1"/>
          <p:nvPr/>
        </p:nvSpPr>
        <p:spPr>
          <a:xfrm>
            <a:off x="821574" y="1966451"/>
            <a:ext cx="10390909" cy="4191981"/>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This project aims to design and implement a fall detection system for the elders using machine learning techniques and Internet-of-Things (IoT). </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 robust fall detection system monitors the fall and alerts caregivers, hence alleviating their burden and diminishes the workload on resource constrained healthcare systems.</a:t>
            </a:r>
          </a:p>
          <a:p>
            <a:pPr algn="just">
              <a:lnSpc>
                <a:spcPct val="150000"/>
              </a:lnSpc>
            </a:pPr>
            <a:endParaRPr lang="en-US" sz="20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main issue </a:t>
            </a:r>
            <a:r>
              <a:rPr lang="en-US" sz="2000" dirty="0">
                <a:latin typeface="Times New Roman" panose="02020603050405020304" pitchFamily="18" charset="0"/>
                <a:cs typeface="Times New Roman" panose="02020603050405020304" pitchFamily="18" charset="0"/>
              </a:rPr>
              <a:t>with fall detection systems is false alarms (situation where the system mistakenly thinks a fall has happened when it hasn’t).</a:t>
            </a:r>
          </a:p>
          <a:p>
            <a:pPr algn="just">
              <a:lnSpc>
                <a:spcPct val="150000"/>
              </a:lnSpc>
            </a:pPr>
            <a:endParaRPr lang="en-US" sz="2000" dirty="0">
              <a:latin typeface="Times New Roman" panose="02020603050405020304" pitchFamily="18" charset="0"/>
              <a:cs typeface="Times New Roman" panose="02020603050405020304" pitchFamily="18" charset="0"/>
            </a:endParaRPr>
          </a:p>
          <a:p>
            <a:pPr algn="just">
              <a:lnSpc>
                <a:spcPct val="150000"/>
              </a:lnSpc>
            </a:pPr>
            <a:endParaRPr lang="en-IN" sz="2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6D28FA93-73E9-DEC9-52E8-7472060F1FA6}"/>
              </a:ext>
            </a:extLst>
          </p:cNvPr>
          <p:cNvSpPr txBox="1"/>
          <p:nvPr/>
        </p:nvSpPr>
        <p:spPr>
          <a:xfrm>
            <a:off x="821574" y="1067780"/>
            <a:ext cx="10501746" cy="498663"/>
          </a:xfrm>
          <a:prstGeom prst="rect">
            <a:avLst/>
          </a:prstGeom>
          <a:noFill/>
        </p:spPr>
        <p:txBody>
          <a:bodyPr wrap="square" rtlCol="0">
            <a:spAutoFit/>
          </a:bodyPr>
          <a:lstStyle/>
          <a:p>
            <a:pPr algn="just">
              <a:lnSpc>
                <a:spcPct val="150000"/>
              </a:lnSpc>
            </a:pPr>
            <a:r>
              <a:rPr lang="en-US" sz="2000" b="1" dirty="0">
                <a:latin typeface="Times New Roman" panose="02020603050405020304" pitchFamily="18" charset="0"/>
                <a:cs typeface="Times New Roman" panose="02020603050405020304" pitchFamily="18" charset="0"/>
              </a:rPr>
              <a:t>2. Fall Detection System using XG Boost and IoT:</a:t>
            </a:r>
          </a:p>
        </p:txBody>
      </p:sp>
    </p:spTree>
    <p:extLst>
      <p:ext uri="{BB962C8B-B14F-4D97-AF65-F5344CB8AC3E}">
        <p14:creationId xmlns:p14="http://schemas.microsoft.com/office/powerpoint/2010/main" val="41497376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84F676E-2B54-A0E4-8241-2B493B88E5AD}"/>
              </a:ext>
            </a:extLst>
          </p:cNvPr>
          <p:cNvSpPr>
            <a:spLocks noGrp="1"/>
          </p:cNvSpPr>
          <p:nvPr>
            <p:ph type="dt" sz="half" idx="10"/>
          </p:nvPr>
        </p:nvSpPr>
        <p:spPr/>
        <p:txBody>
          <a:bodyPr/>
          <a:lstStyle/>
          <a:p>
            <a:r>
              <a:rPr lang="en-US" sz="1200">
                <a:latin typeface="Times New Roman" panose="02020603050405020304" pitchFamily="18" charset="0"/>
                <a:cs typeface="Times New Roman" panose="02020603050405020304" pitchFamily="18" charset="0"/>
              </a:rPr>
              <a:t>Dept. of ISE</a:t>
            </a:r>
            <a:endParaRPr lang="en-US" sz="1200" dirty="0">
              <a:latin typeface="Times New Roman" panose="02020603050405020304" pitchFamily="18"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C4647D34-FBCF-AC9A-C00A-1DBA5361CA0D}"/>
              </a:ext>
            </a:extLst>
          </p:cNvPr>
          <p:cNvSpPr>
            <a:spLocks noGrp="1"/>
          </p:cNvSpPr>
          <p:nvPr>
            <p:ph type="ftr" sz="quarter" idx="11"/>
          </p:nvPr>
        </p:nvSpPr>
        <p:spPr/>
        <p:txBody>
          <a:bodyPr/>
          <a:lstStyle/>
          <a:p>
            <a:r>
              <a:rPr lang="en-US" sz="1200">
                <a:latin typeface="Times New Roman" panose="02020603050405020304" pitchFamily="18" charset="0"/>
                <a:cs typeface="Times New Roman" panose="02020603050405020304" pitchFamily="18" charset="0"/>
              </a:rPr>
              <a:t>10-02-2025</a:t>
            </a:r>
            <a:endParaRPr lang="en-US" sz="12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A3D73BD-0BDB-F353-312A-68D50884B195}"/>
              </a:ext>
            </a:extLst>
          </p:cNvPr>
          <p:cNvSpPr>
            <a:spLocks noGrp="1"/>
          </p:cNvSpPr>
          <p:nvPr>
            <p:ph type="sldNum" sz="quarter" idx="12"/>
          </p:nvPr>
        </p:nvSpPr>
        <p:spPr/>
        <p:txBody>
          <a:bodyPr/>
          <a:lstStyle/>
          <a:p>
            <a:fld id="{4FAB73BC-B049-4115-A692-8D63A059BFB8}" type="slidenum">
              <a:rPr lang="en-US" sz="1200" smtClean="0">
                <a:latin typeface="Times New Roman" panose="02020603050405020304" pitchFamily="18" charset="0"/>
                <a:cs typeface="Times New Roman" panose="02020603050405020304" pitchFamily="18" charset="0"/>
              </a:rPr>
              <a:pPr/>
              <a:t>7</a:t>
            </a:fld>
            <a:endParaRPr lang="en-US" sz="12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21698043-A1A5-8523-55C8-1A5EE179FC1D}"/>
              </a:ext>
            </a:extLst>
          </p:cNvPr>
          <p:cNvSpPr txBox="1"/>
          <p:nvPr/>
        </p:nvSpPr>
        <p:spPr>
          <a:xfrm>
            <a:off x="471949" y="431567"/>
            <a:ext cx="3937819"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Platform Used:</a:t>
            </a:r>
            <a:endParaRPr lang="en-IN" sz="24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528D4C46-CC76-BF60-99DC-7890A0406695}"/>
              </a:ext>
            </a:extLst>
          </p:cNvPr>
          <p:cNvSpPr txBox="1"/>
          <p:nvPr/>
        </p:nvSpPr>
        <p:spPr>
          <a:xfrm>
            <a:off x="720213" y="1122471"/>
            <a:ext cx="10751574" cy="4613058"/>
          </a:xfrm>
          <a:prstGeom prst="rect">
            <a:avLst/>
          </a:prstGeom>
          <a:noFill/>
        </p:spPr>
        <p:txBody>
          <a:bodyPr wrap="square" rtlCol="0">
            <a:spAutoFit/>
          </a:bodyPr>
          <a:lstStyle/>
          <a:p>
            <a:pPr marL="540385" marR="0">
              <a:lnSpc>
                <a:spcPct val="150000"/>
              </a:lnSpc>
            </a:pPr>
            <a:r>
              <a:rPr lang="en-US" sz="1800" b="1" dirty="0">
                <a:effectLst/>
                <a:latin typeface="Times New Roman" panose="02020603050405020304" pitchFamily="18" charset="0"/>
                <a:ea typeface="Times New Roman" panose="02020603050405020304" pitchFamily="18" charset="0"/>
              </a:rPr>
              <a:t>Hardware </a:t>
            </a:r>
            <a:r>
              <a:rPr lang="en-US" sz="1800" b="1" spc="-10" dirty="0">
                <a:effectLst/>
                <a:latin typeface="Times New Roman" panose="02020603050405020304" pitchFamily="18" charset="0"/>
                <a:ea typeface="Times New Roman" panose="02020603050405020304" pitchFamily="18" charset="0"/>
              </a:rPr>
              <a:t>Requirements:</a:t>
            </a:r>
            <a:endParaRPr lang="en-US" sz="1800" b="1" dirty="0">
              <a:effectLst/>
              <a:latin typeface="Times New Roman" panose="02020603050405020304" pitchFamily="18" charset="0"/>
              <a:ea typeface="Times New Roman" panose="02020603050405020304" pitchFamily="18" charset="0"/>
            </a:endParaRPr>
          </a:p>
          <a:p>
            <a:pPr marL="540385" marR="0">
              <a:lnSpc>
                <a:spcPct val="150000"/>
              </a:lnSpc>
            </a:pPr>
            <a:r>
              <a:rPr lang="en-US" sz="1800" b="1" dirty="0">
                <a:effectLst/>
                <a:latin typeface="Times New Roman" panose="02020603050405020304" pitchFamily="18" charset="0"/>
                <a:ea typeface="Times New Roman" panose="02020603050405020304" pitchFamily="18" charset="0"/>
              </a:rPr>
              <a:t>ESP32 Microcontroller(</a:t>
            </a:r>
            <a:r>
              <a:rPr lang="en-US" sz="1800" dirty="0">
                <a:effectLst/>
                <a:latin typeface="Times New Roman" panose="02020603050405020304" pitchFamily="18" charset="0"/>
                <a:ea typeface="Times New Roman" panose="02020603050405020304" pitchFamily="18" charset="0"/>
              </a:rPr>
              <a:t>ESP32 DEVKIT V1)</a:t>
            </a:r>
            <a:r>
              <a:rPr lang="en-IN" sz="1800" b="1" dirty="0">
                <a:effectLst/>
                <a:latin typeface="Times New Roman" panose="02020603050405020304" pitchFamily="18" charset="0"/>
                <a:ea typeface="Times New Roman" panose="02020603050405020304" pitchFamily="18" charset="0"/>
              </a:rPr>
              <a:t>:</a:t>
            </a:r>
            <a:endParaRPr lang="en-IN" sz="1800" dirty="0">
              <a:effectLst/>
              <a:latin typeface="Times New Roman" panose="02020603050405020304" pitchFamily="18" charset="0"/>
              <a:ea typeface="Times New Roman" panose="02020603050405020304" pitchFamily="18" charset="0"/>
            </a:endParaRPr>
          </a:p>
          <a:p>
            <a:pPr marL="342900" marR="542290" lvl="0" indent="-342900" algn="just">
              <a:lnSpc>
                <a:spcPct val="150000"/>
              </a:lnSpc>
              <a:buSzPts val="1000"/>
              <a:buFont typeface="Symbol" panose="05050102010706020507" pitchFamily="18" charset="2"/>
              <a:buChar char=""/>
            </a:pPr>
            <a:r>
              <a:rPr lang="en-US" sz="1800" b="1" dirty="0">
                <a:effectLst/>
                <a:latin typeface="Times New Roman" panose="02020603050405020304" pitchFamily="18" charset="0"/>
                <a:ea typeface="Times New Roman" panose="02020603050405020304" pitchFamily="18" charset="0"/>
              </a:rPr>
              <a:t>Memory: </a:t>
            </a:r>
            <a:r>
              <a:rPr lang="en-US" sz="1800" dirty="0">
                <a:effectLst/>
                <a:latin typeface="Times New Roman" panose="02020603050405020304" pitchFamily="18" charset="0"/>
                <a:ea typeface="Times New Roman" panose="02020603050405020304" pitchFamily="18" charset="0"/>
              </a:rPr>
              <a:t>4MB Flash, 520KB SRAM</a:t>
            </a:r>
            <a:r>
              <a:rPr lang="en-IN" sz="1800" dirty="0">
                <a:effectLst/>
                <a:latin typeface="Times New Roman" panose="02020603050405020304" pitchFamily="18" charset="0"/>
                <a:ea typeface="Times New Roman" panose="02020603050405020304" pitchFamily="18" charset="0"/>
              </a:rPr>
              <a:t>.</a:t>
            </a:r>
          </a:p>
          <a:p>
            <a:pPr marL="342900" marR="542290" lvl="0" indent="-342900" algn="just">
              <a:lnSpc>
                <a:spcPct val="150000"/>
              </a:lnSpc>
              <a:buSzPts val="1000"/>
              <a:buFont typeface="Symbol" panose="05050102010706020507" pitchFamily="18" charset="2"/>
              <a:buChar char=""/>
            </a:pPr>
            <a:r>
              <a:rPr lang="en-US" sz="1800" b="1" dirty="0">
                <a:effectLst/>
                <a:latin typeface="Times New Roman" panose="02020603050405020304" pitchFamily="18" charset="0"/>
                <a:ea typeface="Times New Roman" panose="02020603050405020304" pitchFamily="18" charset="0"/>
              </a:rPr>
              <a:t>I/O Pins: </a:t>
            </a:r>
            <a:r>
              <a:rPr lang="en-US" sz="1800" dirty="0">
                <a:effectLst/>
                <a:latin typeface="Times New Roman" panose="02020603050405020304" pitchFamily="18" charset="0"/>
                <a:ea typeface="Times New Roman" panose="02020603050405020304" pitchFamily="18" charset="0"/>
              </a:rPr>
              <a:t>At least 10 GPIOs (for interfacing with QR scanner and motor</a:t>
            </a:r>
            <a:r>
              <a:rPr lang="en-US" sz="1800" b="1" dirty="0">
                <a:effectLst/>
                <a:latin typeface="Times New Roman" panose="02020603050405020304" pitchFamily="18" charset="0"/>
                <a:ea typeface="Times New Roman" panose="02020603050405020304" pitchFamily="18" charset="0"/>
              </a:rPr>
              <a:t>)</a:t>
            </a:r>
            <a:r>
              <a:rPr lang="en-IN" sz="1800" dirty="0">
                <a:effectLst/>
                <a:latin typeface="Times New Roman" panose="02020603050405020304" pitchFamily="18" charset="0"/>
                <a:ea typeface="Times New Roman" panose="02020603050405020304" pitchFamily="18" charset="0"/>
              </a:rPr>
              <a:t>.</a:t>
            </a:r>
          </a:p>
          <a:p>
            <a:pPr marL="342900" marR="542290" lvl="0" indent="-342900" algn="just">
              <a:lnSpc>
                <a:spcPct val="150000"/>
              </a:lnSpc>
              <a:buSzPts val="1000"/>
              <a:buFont typeface="Symbol" panose="05050102010706020507" pitchFamily="18" charset="2"/>
              <a:buChar char=""/>
            </a:pPr>
            <a:r>
              <a:rPr lang="en-US" sz="1800" b="1" dirty="0">
                <a:effectLst/>
                <a:latin typeface="Times New Roman" panose="02020603050405020304" pitchFamily="18" charset="0"/>
                <a:ea typeface="Times New Roman" panose="02020603050405020304" pitchFamily="18" charset="0"/>
              </a:rPr>
              <a:t>Accelerometer (ADXL345 or MPU6050)</a:t>
            </a:r>
            <a:r>
              <a:rPr lang="en-IN" sz="1800" b="1" dirty="0">
                <a:effectLst/>
                <a:latin typeface="Times New Roman" panose="02020603050405020304" pitchFamily="18" charset="0"/>
                <a:ea typeface="Times New Roman" panose="02020603050405020304" pitchFamily="18" charset="0"/>
              </a:rPr>
              <a:t>:</a:t>
            </a:r>
            <a:endParaRPr lang="en-IN" sz="1800" dirty="0">
              <a:effectLst/>
              <a:latin typeface="Times New Roman" panose="02020603050405020304" pitchFamily="18" charset="0"/>
              <a:ea typeface="Times New Roman" panose="02020603050405020304" pitchFamily="18" charset="0"/>
            </a:endParaRPr>
          </a:p>
          <a:p>
            <a:pPr marL="342900" marR="452120" lvl="0" indent="-342900">
              <a:lnSpc>
                <a:spcPct val="150000"/>
              </a:lnSpc>
              <a:buSzPts val="1000"/>
              <a:buFont typeface="Symbol" panose="05050102010706020507" pitchFamily="18" charset="2"/>
              <a:buChar char=""/>
              <a:tabLst>
                <a:tab pos="6301105" algn="l"/>
              </a:tabLst>
            </a:pPr>
            <a:r>
              <a:rPr lang="en-US" sz="1800" dirty="0">
                <a:effectLst/>
                <a:latin typeface="Times New Roman" panose="02020603050405020304" pitchFamily="18" charset="0"/>
                <a:ea typeface="Times New Roman" panose="02020603050405020304" pitchFamily="18" charset="0"/>
              </a:rPr>
              <a:t>Detects rapid changes in movement, orientation, and acceleration to determine falls.</a:t>
            </a:r>
            <a:endParaRPr lang="en-IN" dirty="0">
              <a:latin typeface="Times New Roman" panose="02020603050405020304" pitchFamily="18" charset="0"/>
              <a:ea typeface="Times New Roman" panose="02020603050405020304" pitchFamily="18" charset="0"/>
            </a:endParaRPr>
          </a:p>
          <a:p>
            <a:pPr marR="452120" lvl="0">
              <a:lnSpc>
                <a:spcPct val="150000"/>
              </a:lnSpc>
              <a:buSzPts val="1000"/>
              <a:tabLst>
                <a:tab pos="6301105" algn="l"/>
              </a:tabLst>
            </a:pPr>
            <a:r>
              <a:rPr lang="en-IN" sz="1800" b="1"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Gyroscope (MPU6050 or LSM6DS3)</a:t>
            </a:r>
            <a:r>
              <a:rPr lang="en-IN" sz="1800" b="1" dirty="0">
                <a:effectLst/>
                <a:latin typeface="Times New Roman" panose="02020603050405020304" pitchFamily="18" charset="0"/>
                <a:ea typeface="Times New Roman" panose="02020603050405020304" pitchFamily="18" charset="0"/>
              </a:rPr>
              <a:t>:</a:t>
            </a:r>
            <a:endParaRPr lang="en-IN" sz="1800" dirty="0">
              <a:effectLst/>
              <a:latin typeface="Times New Roman" panose="02020603050405020304" pitchFamily="18" charset="0"/>
              <a:ea typeface="Times New Roman" panose="02020603050405020304" pitchFamily="18" charset="0"/>
            </a:endParaRPr>
          </a:p>
          <a:p>
            <a:pPr marL="342900" marR="452120" lvl="0" indent="-342900">
              <a:lnSpc>
                <a:spcPct val="150000"/>
              </a:lnSpc>
              <a:buSzPts val="1000"/>
              <a:buFont typeface="Symbol" panose="05050102010706020507" pitchFamily="18" charset="2"/>
              <a:buChar char=""/>
              <a:tabLst>
                <a:tab pos="900430" algn="l"/>
              </a:tabLst>
            </a:pPr>
            <a:r>
              <a:rPr lang="en-US" sz="1800" dirty="0">
                <a:effectLst/>
                <a:latin typeface="Times New Roman" panose="02020603050405020304" pitchFamily="18" charset="0"/>
                <a:ea typeface="Times New Roman" panose="02020603050405020304" pitchFamily="18" charset="0"/>
              </a:rPr>
              <a:t>Helps differentiate between regular movements and sudden falls by tracking angular velocity </a:t>
            </a:r>
          </a:p>
          <a:p>
            <a:pPr marR="452120" lvl="0">
              <a:lnSpc>
                <a:spcPct val="150000"/>
              </a:lnSpc>
              <a:buSzPts val="1000"/>
              <a:tabLst>
                <a:tab pos="900430" algn="l"/>
              </a:tabLst>
            </a:pPr>
            <a:r>
              <a:rPr lang="en-US" b="1" dirty="0">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Heart Rate Sensor- Pulse Oximeter (MAX30100 or MAX30102)</a:t>
            </a:r>
            <a:r>
              <a:rPr lang="en-IN" sz="1800" b="1" dirty="0">
                <a:effectLst/>
                <a:latin typeface="Times New Roman" panose="02020603050405020304" pitchFamily="18" charset="0"/>
                <a:ea typeface="Times New Roman" panose="02020603050405020304" pitchFamily="18" charset="0"/>
              </a:rPr>
              <a:t>:</a:t>
            </a:r>
            <a:endParaRPr lang="en-IN" sz="1800" dirty="0">
              <a:effectLst/>
              <a:latin typeface="Times New Roman" panose="02020603050405020304" pitchFamily="18" charset="0"/>
              <a:ea typeface="Times New Roman" panose="02020603050405020304" pitchFamily="18" charset="0"/>
            </a:endParaRPr>
          </a:p>
          <a:p>
            <a:pPr marL="342900" marR="0" lvl="0" indent="-342900">
              <a:lnSpc>
                <a:spcPct val="150000"/>
              </a:lnSpc>
              <a:buSzPts val="1000"/>
              <a:buFont typeface="Symbol" panose="05050102010706020507" pitchFamily="18" charset="2"/>
              <a:buChar char=""/>
              <a:tabLst>
                <a:tab pos="990600" algn="l"/>
              </a:tabLst>
            </a:pPr>
            <a:r>
              <a:rPr lang="en-US" sz="1800" dirty="0">
                <a:effectLst/>
                <a:latin typeface="Times New Roman" panose="02020603050405020304" pitchFamily="18" charset="0"/>
                <a:ea typeface="Times New Roman" panose="02020603050405020304" pitchFamily="18" charset="0"/>
              </a:rPr>
              <a:t>Monitors the user’s heart rate before and after a fall to detect possible health risks.</a:t>
            </a:r>
            <a:endParaRPr lang="en-IN" sz="1800" dirty="0">
              <a:effectLst/>
              <a:latin typeface="Times New Roman" panose="02020603050405020304" pitchFamily="18" charset="0"/>
              <a:ea typeface="Times New Roman" panose="02020603050405020304" pitchFamily="18" charset="0"/>
            </a:endParaRPr>
          </a:p>
          <a:p>
            <a:pPr marL="0" marR="0">
              <a:lnSpc>
                <a:spcPct val="150000"/>
              </a:lnSpc>
            </a:pPr>
            <a:r>
              <a:rPr lang="en-IN" sz="1800" dirty="0">
                <a:effectLst/>
                <a:latin typeface="Times New Roman" panose="02020603050405020304" pitchFamily="18" charset="0"/>
                <a:ea typeface="Times New Roman" panose="02020603050405020304" pitchFamily="18" charset="0"/>
              </a:rPr>
              <a:t> </a:t>
            </a:r>
          </a:p>
        </p:txBody>
      </p:sp>
    </p:spTree>
    <p:extLst>
      <p:ext uri="{BB962C8B-B14F-4D97-AF65-F5344CB8AC3E}">
        <p14:creationId xmlns:p14="http://schemas.microsoft.com/office/powerpoint/2010/main" val="29150087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EEE7A94-32F0-FD5A-983B-2B7D808F26FA}"/>
              </a:ext>
            </a:extLst>
          </p:cNvPr>
          <p:cNvSpPr>
            <a:spLocks noGrp="1"/>
          </p:cNvSpPr>
          <p:nvPr>
            <p:ph type="dt" sz="half" idx="10"/>
          </p:nvPr>
        </p:nvSpPr>
        <p:spPr/>
        <p:txBody>
          <a:bodyPr/>
          <a:lstStyle/>
          <a:p>
            <a:r>
              <a:rPr lang="en-US" sz="1200">
                <a:latin typeface="Times New Roman" panose="02020603050405020304" pitchFamily="18" charset="0"/>
                <a:cs typeface="Times New Roman" panose="02020603050405020304" pitchFamily="18" charset="0"/>
              </a:rPr>
              <a:t>Dept. of ISE</a:t>
            </a:r>
            <a:endParaRPr lang="en-US" sz="1200" dirty="0">
              <a:latin typeface="Times New Roman" panose="02020603050405020304" pitchFamily="18"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F90EBE2E-35EF-9FCF-1589-2D6BD6503F10}"/>
              </a:ext>
            </a:extLst>
          </p:cNvPr>
          <p:cNvSpPr>
            <a:spLocks noGrp="1"/>
          </p:cNvSpPr>
          <p:nvPr>
            <p:ph type="ftr" sz="quarter" idx="11"/>
          </p:nvPr>
        </p:nvSpPr>
        <p:spPr/>
        <p:txBody>
          <a:bodyPr/>
          <a:lstStyle/>
          <a:p>
            <a:r>
              <a:rPr lang="en-US" sz="1200">
                <a:latin typeface="Times New Roman" panose="02020603050405020304" pitchFamily="18" charset="0"/>
                <a:cs typeface="Times New Roman" panose="02020603050405020304" pitchFamily="18" charset="0"/>
              </a:rPr>
              <a:t>10-02-2025</a:t>
            </a:r>
            <a:endParaRPr lang="en-US" sz="12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173334FA-2811-EB0E-3039-16C5073DE7CB}"/>
              </a:ext>
            </a:extLst>
          </p:cNvPr>
          <p:cNvSpPr>
            <a:spLocks noGrp="1"/>
          </p:cNvSpPr>
          <p:nvPr>
            <p:ph type="sldNum" sz="quarter" idx="12"/>
          </p:nvPr>
        </p:nvSpPr>
        <p:spPr/>
        <p:txBody>
          <a:bodyPr/>
          <a:lstStyle/>
          <a:p>
            <a:fld id="{4FAB73BC-B049-4115-A692-8D63A059BFB8}" type="slidenum">
              <a:rPr lang="en-US" sz="1200" smtClean="0">
                <a:latin typeface="Times New Roman" panose="02020603050405020304" pitchFamily="18" charset="0"/>
                <a:cs typeface="Times New Roman" panose="02020603050405020304" pitchFamily="18" charset="0"/>
              </a:rPr>
              <a:pPr/>
              <a:t>8</a:t>
            </a:fld>
            <a:endParaRPr lang="en-US" sz="12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07DB6B4-6E20-272C-F842-3F7C66AE4A84}"/>
              </a:ext>
            </a:extLst>
          </p:cNvPr>
          <p:cNvSpPr txBox="1"/>
          <p:nvPr/>
        </p:nvSpPr>
        <p:spPr>
          <a:xfrm>
            <a:off x="845574" y="471949"/>
            <a:ext cx="10235380" cy="5028556"/>
          </a:xfrm>
          <a:prstGeom prst="rect">
            <a:avLst/>
          </a:prstGeom>
          <a:noFill/>
        </p:spPr>
        <p:txBody>
          <a:bodyPr wrap="square" rtlCol="0">
            <a:spAutoFit/>
          </a:bodyPr>
          <a:lstStyle/>
          <a:p>
            <a:pPr marL="540385" marR="0">
              <a:lnSpc>
                <a:spcPct val="150000"/>
              </a:lnSpc>
            </a:pPr>
            <a:r>
              <a:rPr lang="en-US" sz="1800" b="1" dirty="0">
                <a:effectLst/>
                <a:latin typeface="Times New Roman" panose="02020603050405020304" pitchFamily="18" charset="0"/>
                <a:ea typeface="Times New Roman" panose="02020603050405020304" pitchFamily="18" charset="0"/>
              </a:rPr>
              <a:t>Mini Airbag System (Custom-made)</a:t>
            </a:r>
            <a:r>
              <a:rPr lang="en-IN" sz="1800" b="1" dirty="0">
                <a:effectLst/>
                <a:latin typeface="Times New Roman" panose="02020603050405020304" pitchFamily="18" charset="0"/>
                <a:ea typeface="Times New Roman" panose="02020603050405020304" pitchFamily="18" charset="0"/>
              </a:rPr>
              <a:t>:</a:t>
            </a:r>
            <a:endParaRPr lang="en-IN" sz="1800" dirty="0">
              <a:effectLst/>
              <a:latin typeface="Times New Roman" panose="02020603050405020304" pitchFamily="18" charset="0"/>
              <a:ea typeface="Times New Roman" panose="02020603050405020304" pitchFamily="18" charset="0"/>
            </a:endParaRPr>
          </a:p>
          <a:p>
            <a:pPr marL="342900" marR="360045" lvl="0" indent="-342900">
              <a:lnSpc>
                <a:spcPct val="150000"/>
              </a:lnSpc>
              <a:buSzPts val="1000"/>
              <a:buFont typeface="Symbol" panose="05050102010706020507" pitchFamily="18" charset="2"/>
              <a:buChar char=""/>
              <a:tabLst>
                <a:tab pos="990600" algn="l"/>
              </a:tabLst>
            </a:pPr>
            <a:r>
              <a:rPr lang="en-US" sz="1800" dirty="0">
                <a:effectLst/>
                <a:latin typeface="Times New Roman" panose="02020603050405020304" pitchFamily="18" charset="0"/>
                <a:ea typeface="Times New Roman" panose="02020603050405020304" pitchFamily="18" charset="0"/>
              </a:rPr>
              <a:t>Deploys automatically when a fall is detected.</a:t>
            </a:r>
            <a:endParaRPr lang="en-IN" sz="1800" dirty="0">
              <a:effectLst/>
              <a:latin typeface="Times New Roman" panose="02020603050405020304" pitchFamily="18" charset="0"/>
              <a:ea typeface="Times New Roman" panose="02020603050405020304" pitchFamily="18" charset="0"/>
            </a:endParaRPr>
          </a:p>
          <a:p>
            <a:pPr marL="342900" marR="360045" lvl="0" indent="-342900">
              <a:lnSpc>
                <a:spcPct val="150000"/>
              </a:lnSpc>
              <a:buSzPts val="1000"/>
              <a:buFont typeface="Symbol" panose="05050102010706020507" pitchFamily="18" charset="2"/>
              <a:buChar char=""/>
              <a:tabLst>
                <a:tab pos="990600" algn="l"/>
              </a:tabLst>
            </a:pPr>
            <a:r>
              <a:rPr lang="en-IN" sz="1800" dirty="0">
                <a:effectLst/>
                <a:latin typeface="Times New Roman" panose="02020603050405020304" pitchFamily="18" charset="0"/>
                <a:ea typeface="Times New Roman" panose="02020603050405020304" pitchFamily="18" charset="0"/>
              </a:rPr>
              <a:t>Uses a micro gas inflator (CO₂ cartridge) for rapid inflation.</a:t>
            </a:r>
          </a:p>
          <a:p>
            <a:pPr marR="360045" lvl="0">
              <a:lnSpc>
                <a:spcPct val="150000"/>
              </a:lnSpc>
              <a:buSzPts val="1000"/>
              <a:tabLst>
                <a:tab pos="990600" algn="l"/>
              </a:tabLst>
            </a:pPr>
            <a:endParaRPr lang="en-US" sz="1800" dirty="0">
              <a:effectLst/>
              <a:latin typeface="Times New Roman" panose="02020603050405020304" pitchFamily="18" charset="0"/>
              <a:ea typeface="Times New Roman" panose="02020603050405020304" pitchFamily="18" charset="0"/>
            </a:endParaRPr>
          </a:p>
          <a:p>
            <a:pPr marR="360045">
              <a:lnSpc>
                <a:spcPct val="150000"/>
              </a:lnSpc>
              <a:buSzPts val="1000"/>
              <a:tabLst>
                <a:tab pos="990600" algn="l"/>
              </a:tabLst>
            </a:pPr>
            <a:r>
              <a:rPr lang="en-US" sz="1800" b="1" dirty="0">
                <a:effectLst/>
                <a:latin typeface="Times New Roman" panose="02020603050405020304" pitchFamily="18" charset="0"/>
                <a:ea typeface="Times New Roman" panose="02020603050405020304" pitchFamily="18" charset="0"/>
              </a:rPr>
              <a:t>Software</a:t>
            </a:r>
            <a:r>
              <a:rPr lang="en-US" sz="1800" b="1" spc="50" dirty="0">
                <a:effectLst/>
                <a:latin typeface="Times New Roman" panose="02020603050405020304" pitchFamily="18" charset="0"/>
                <a:ea typeface="Times New Roman" panose="02020603050405020304" pitchFamily="18" charset="0"/>
              </a:rPr>
              <a:t> </a:t>
            </a:r>
            <a:r>
              <a:rPr lang="en-US" sz="1800" b="1" spc="-10" dirty="0">
                <a:effectLst/>
                <a:latin typeface="Times New Roman" panose="02020603050405020304" pitchFamily="18" charset="0"/>
                <a:ea typeface="Times New Roman" panose="02020603050405020304" pitchFamily="18" charset="0"/>
              </a:rPr>
              <a:t>Requirements:</a:t>
            </a:r>
            <a:endParaRPr lang="en-IN" b="1" spc="-10" dirty="0">
              <a:latin typeface="Times New Roman" panose="02020603050405020304" pitchFamily="18" charset="0"/>
              <a:ea typeface="Times New Roman" panose="02020603050405020304" pitchFamily="18" charset="0"/>
            </a:endParaRPr>
          </a:p>
          <a:p>
            <a:pPr marR="360045">
              <a:lnSpc>
                <a:spcPct val="150000"/>
              </a:lnSpc>
              <a:buSzPts val="1000"/>
              <a:tabLst>
                <a:tab pos="990600" algn="l"/>
              </a:tabLst>
            </a:pPr>
            <a:r>
              <a:rPr lang="en-IN" sz="1800" b="1" dirty="0">
                <a:effectLst/>
                <a:latin typeface="Times New Roman" panose="02020603050405020304" pitchFamily="18" charset="0"/>
                <a:ea typeface="Times New Roman" panose="02020603050405020304" pitchFamily="18" charset="0"/>
              </a:rPr>
              <a:t>Features</a:t>
            </a:r>
            <a:r>
              <a:rPr lang="en-IN" sz="1800" dirty="0">
                <a:effectLst/>
                <a:latin typeface="Times New Roman" panose="02020603050405020304" pitchFamily="18" charset="0"/>
                <a:ea typeface="Times New Roman" panose="02020603050405020304" pitchFamily="18" charset="0"/>
              </a:rPr>
              <a:t>:</a:t>
            </a:r>
          </a:p>
          <a:p>
            <a:pPr marL="342900" marR="0" lvl="0" indent="-342900">
              <a:lnSpc>
                <a:spcPct val="150000"/>
              </a:lnSpc>
              <a:buSzPts val="1000"/>
              <a:buFont typeface="Symbol" panose="05050102010706020507" pitchFamily="18" charset="2"/>
              <a:buChar char=""/>
              <a:tabLst>
                <a:tab pos="457200" algn="l"/>
              </a:tabLst>
            </a:pPr>
            <a:r>
              <a:rPr lang="en-US" sz="1800" b="1" dirty="0">
                <a:effectLst/>
                <a:latin typeface="Times New Roman" panose="02020603050405020304" pitchFamily="18" charset="0"/>
                <a:ea typeface="Times New Roman" panose="02020603050405020304" pitchFamily="18" charset="0"/>
              </a:rPr>
              <a:t>Fall Alerts:</a:t>
            </a:r>
            <a:r>
              <a:rPr lang="en-US" sz="1800" dirty="0">
                <a:effectLst/>
                <a:latin typeface="Times New Roman" panose="02020603050405020304" pitchFamily="18" charset="0"/>
                <a:ea typeface="Times New Roman" panose="02020603050405020304" pitchFamily="18" charset="0"/>
              </a:rPr>
              <a:t> Receive instant notifications.</a:t>
            </a:r>
            <a:endParaRPr lang="en-IN" sz="1800" dirty="0">
              <a:effectLst/>
              <a:latin typeface="Times New Roman" panose="02020603050405020304" pitchFamily="18" charset="0"/>
              <a:ea typeface="Times New Roman" panose="02020603050405020304" pitchFamily="18" charset="0"/>
            </a:endParaRPr>
          </a:p>
          <a:p>
            <a:pPr marL="342900" marR="0" lvl="0" indent="-342900">
              <a:lnSpc>
                <a:spcPct val="150000"/>
              </a:lnSpc>
              <a:buSzPts val="1000"/>
              <a:buFont typeface="Symbol" panose="05050102010706020507" pitchFamily="18" charset="2"/>
              <a:buChar char=""/>
              <a:tabLst>
                <a:tab pos="457200" algn="l"/>
              </a:tabLst>
            </a:pPr>
            <a:r>
              <a:rPr lang="en-US" sz="1800" b="1" dirty="0">
                <a:effectLst/>
                <a:latin typeface="Times New Roman" panose="02020603050405020304" pitchFamily="18" charset="0"/>
                <a:ea typeface="Times New Roman" panose="02020603050405020304" pitchFamily="18" charset="0"/>
              </a:rPr>
              <a:t>GPS Tracking:</a:t>
            </a:r>
            <a:r>
              <a:rPr lang="en-US" sz="1800" dirty="0">
                <a:effectLst/>
                <a:latin typeface="Times New Roman" panose="02020603050405020304" pitchFamily="18" charset="0"/>
                <a:ea typeface="Times New Roman" panose="02020603050405020304" pitchFamily="18" charset="0"/>
              </a:rPr>
              <a:t> View real-time location of the elderly person</a:t>
            </a:r>
            <a:r>
              <a:rPr lang="en-IN" sz="1800" dirty="0">
                <a:effectLst/>
                <a:latin typeface="Times New Roman" panose="02020603050405020304" pitchFamily="18" charset="0"/>
                <a:ea typeface="Times New Roman" panose="02020603050405020304" pitchFamily="18" charset="0"/>
              </a:rPr>
              <a:t>.</a:t>
            </a:r>
          </a:p>
          <a:p>
            <a:pPr marL="342900" marR="0" lvl="0" indent="-342900">
              <a:lnSpc>
                <a:spcPct val="150000"/>
              </a:lnSpc>
              <a:buSzPts val="1000"/>
              <a:buFont typeface="Symbol" panose="05050102010706020507" pitchFamily="18" charset="2"/>
              <a:buChar char=""/>
              <a:tabLst>
                <a:tab pos="457200" algn="l"/>
              </a:tabLst>
            </a:pPr>
            <a:r>
              <a:rPr lang="en-US" sz="1800" b="1" dirty="0">
                <a:effectLst/>
                <a:latin typeface="Times New Roman" panose="02020603050405020304" pitchFamily="18" charset="0"/>
                <a:ea typeface="Times New Roman" panose="02020603050405020304" pitchFamily="18" charset="0"/>
              </a:rPr>
              <a:t>Health Monitoring:</a:t>
            </a:r>
            <a:r>
              <a:rPr lang="en-US" sz="1800" dirty="0">
                <a:effectLst/>
                <a:latin typeface="Times New Roman" panose="02020603050405020304" pitchFamily="18" charset="0"/>
                <a:ea typeface="Times New Roman" panose="02020603050405020304" pitchFamily="18" charset="0"/>
              </a:rPr>
              <a:t> Display heart rate, body temperature, and activity data</a:t>
            </a:r>
            <a:r>
              <a:rPr lang="en-IN" sz="1800" dirty="0">
                <a:effectLst/>
                <a:latin typeface="Times New Roman" panose="02020603050405020304" pitchFamily="18" charset="0"/>
                <a:ea typeface="Times New Roman" panose="02020603050405020304" pitchFamily="18" charset="0"/>
              </a:rPr>
              <a:t>.</a:t>
            </a:r>
          </a:p>
          <a:p>
            <a:pPr marL="342900" marR="0" lvl="0" indent="-342900">
              <a:lnSpc>
                <a:spcPct val="150000"/>
              </a:lnSpc>
              <a:buSzPts val="1000"/>
              <a:buFont typeface="Symbol" panose="05050102010706020507" pitchFamily="18" charset="2"/>
              <a:buChar char=""/>
              <a:tabLst>
                <a:tab pos="457200" algn="l"/>
              </a:tabLst>
            </a:pPr>
            <a:r>
              <a:rPr lang="en-US" sz="1800" b="1" dirty="0">
                <a:effectLst/>
                <a:latin typeface="Times New Roman" panose="02020603050405020304" pitchFamily="18" charset="0"/>
                <a:ea typeface="Times New Roman" panose="02020603050405020304" pitchFamily="18" charset="0"/>
              </a:rPr>
              <a:t>User Authentication:</a:t>
            </a:r>
            <a:r>
              <a:rPr lang="en-US" sz="1800" dirty="0">
                <a:effectLst/>
                <a:latin typeface="Times New Roman" panose="02020603050405020304" pitchFamily="18" charset="0"/>
                <a:ea typeface="Times New Roman" panose="02020603050405020304" pitchFamily="18" charset="0"/>
              </a:rPr>
              <a:t> Secure login for caregivers.</a:t>
            </a:r>
            <a:endParaRPr lang="en-IN" sz="1800" dirty="0">
              <a:effectLst/>
              <a:latin typeface="Times New Roman" panose="02020603050405020304" pitchFamily="18" charset="0"/>
              <a:ea typeface="Times New Roman" panose="02020603050405020304" pitchFamily="18" charset="0"/>
            </a:endParaRPr>
          </a:p>
          <a:p>
            <a:pPr marL="342900" marR="0" lvl="0" indent="-342900">
              <a:lnSpc>
                <a:spcPct val="150000"/>
              </a:lnSpc>
              <a:buSzPts val="1000"/>
              <a:buFont typeface="Symbol" panose="05050102010706020507" pitchFamily="18" charset="2"/>
              <a:buChar char=""/>
              <a:tabLst>
                <a:tab pos="457200" algn="l"/>
              </a:tabLst>
            </a:pPr>
            <a:r>
              <a:rPr lang="en-US" sz="1800" b="1" dirty="0">
                <a:effectLst/>
                <a:latin typeface="Times New Roman" panose="02020603050405020304" pitchFamily="18" charset="0"/>
                <a:ea typeface="Times New Roman" panose="02020603050405020304" pitchFamily="18" charset="0"/>
              </a:rPr>
              <a:t>Settings Panel:</a:t>
            </a:r>
            <a:r>
              <a:rPr lang="en-US" sz="1800" dirty="0">
                <a:effectLst/>
                <a:latin typeface="Times New Roman" panose="02020603050405020304" pitchFamily="18" charset="0"/>
                <a:ea typeface="Times New Roman" panose="02020603050405020304" pitchFamily="18" charset="0"/>
              </a:rPr>
              <a:t> Adjust fall detection sensitivity and notification preferences</a:t>
            </a:r>
            <a:r>
              <a:rPr lang="en-IN" sz="1800" dirty="0">
                <a:effectLst/>
                <a:latin typeface="Times New Roman" panose="02020603050405020304" pitchFamily="18" charset="0"/>
                <a:ea typeface="Times New Roman" panose="02020603050405020304" pitchFamily="18" charset="0"/>
              </a:rPr>
              <a:t>.</a:t>
            </a:r>
          </a:p>
          <a:p>
            <a:pPr marR="360045" lvl="0">
              <a:lnSpc>
                <a:spcPct val="150000"/>
              </a:lnSpc>
              <a:buSzPts val="1000"/>
              <a:tabLst>
                <a:tab pos="990600" algn="l"/>
              </a:tabLst>
            </a:pPr>
            <a:endParaRPr lang="en-IN"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1770933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5E7BFB3-8E96-2821-669B-ED9766C3398B}"/>
              </a:ext>
            </a:extLst>
          </p:cNvPr>
          <p:cNvSpPr>
            <a:spLocks noGrp="1"/>
          </p:cNvSpPr>
          <p:nvPr>
            <p:ph type="dt" sz="half" idx="10"/>
          </p:nvPr>
        </p:nvSpPr>
        <p:spPr/>
        <p:txBody>
          <a:bodyPr/>
          <a:lstStyle/>
          <a:p>
            <a:r>
              <a:rPr lang="en-US"/>
              <a:t>Dept. of ISE</a:t>
            </a:r>
            <a:endParaRPr lang="en-US" dirty="0"/>
          </a:p>
        </p:txBody>
      </p:sp>
      <p:sp>
        <p:nvSpPr>
          <p:cNvPr id="3" name="Footer Placeholder 2">
            <a:extLst>
              <a:ext uri="{FF2B5EF4-FFF2-40B4-BE49-F238E27FC236}">
                <a16:creationId xmlns:a16="http://schemas.microsoft.com/office/drawing/2014/main" id="{E1473197-839B-E02C-404B-E85B8584FB9F}"/>
              </a:ext>
            </a:extLst>
          </p:cNvPr>
          <p:cNvSpPr>
            <a:spLocks noGrp="1"/>
          </p:cNvSpPr>
          <p:nvPr>
            <p:ph type="ftr" sz="quarter" idx="11"/>
          </p:nvPr>
        </p:nvSpPr>
        <p:spPr/>
        <p:txBody>
          <a:bodyPr/>
          <a:lstStyle/>
          <a:p>
            <a:r>
              <a:rPr lang="en-US"/>
              <a:t>10-02-2025</a:t>
            </a:r>
            <a:endParaRPr lang="en-US" dirty="0"/>
          </a:p>
        </p:txBody>
      </p:sp>
      <p:sp>
        <p:nvSpPr>
          <p:cNvPr id="4" name="Slide Number Placeholder 3">
            <a:extLst>
              <a:ext uri="{FF2B5EF4-FFF2-40B4-BE49-F238E27FC236}">
                <a16:creationId xmlns:a16="http://schemas.microsoft.com/office/drawing/2014/main" id="{92BA27A6-C99D-7930-A7F8-D84DB9A55F31}"/>
              </a:ext>
            </a:extLst>
          </p:cNvPr>
          <p:cNvSpPr>
            <a:spLocks noGrp="1"/>
          </p:cNvSpPr>
          <p:nvPr>
            <p:ph type="sldNum" sz="quarter" idx="12"/>
          </p:nvPr>
        </p:nvSpPr>
        <p:spPr/>
        <p:txBody>
          <a:bodyPr/>
          <a:lstStyle/>
          <a:p>
            <a:fld id="{4FAB73BC-B049-4115-A692-8D63A059BFB8}" type="slidenum">
              <a:rPr lang="en-US" smtClean="0"/>
              <a:pPr/>
              <a:t>9</a:t>
            </a:fld>
            <a:endParaRPr lang="en-US" dirty="0"/>
          </a:p>
        </p:txBody>
      </p:sp>
      <p:sp>
        <p:nvSpPr>
          <p:cNvPr id="5" name="TextBox 4">
            <a:extLst>
              <a:ext uri="{FF2B5EF4-FFF2-40B4-BE49-F238E27FC236}">
                <a16:creationId xmlns:a16="http://schemas.microsoft.com/office/drawing/2014/main" id="{71E19444-9AB1-1DE4-5859-5858E7D9D35E}"/>
              </a:ext>
            </a:extLst>
          </p:cNvPr>
          <p:cNvSpPr txBox="1"/>
          <p:nvPr/>
        </p:nvSpPr>
        <p:spPr>
          <a:xfrm>
            <a:off x="548640" y="594360"/>
            <a:ext cx="935181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Problem</a:t>
            </a:r>
            <a:r>
              <a:rPr lang="en-IN" sz="2400" b="1" dirty="0">
                <a:latin typeface="Times New Roman" panose="02020603050405020304" pitchFamily="18" charset="0"/>
                <a:cs typeface="Times New Roman" panose="02020603050405020304" pitchFamily="18" charset="0"/>
              </a:rPr>
              <a:t> Statement And Solution Strategy</a:t>
            </a:r>
            <a:r>
              <a:rPr lang="en-IN" b="1" dirty="0">
                <a:latin typeface="Times New Roman" panose="02020603050405020304" pitchFamily="18" charset="0"/>
                <a:cs typeface="Times New Roman" panose="02020603050405020304" pitchFamily="18" charset="0"/>
              </a:rPr>
              <a:t>:</a:t>
            </a:r>
            <a:endParaRPr lang="en-GB"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CBDBBDC7-B91F-3477-6D3E-3116C7296ED6}"/>
              </a:ext>
            </a:extLst>
          </p:cNvPr>
          <p:cNvSpPr txBox="1"/>
          <p:nvPr/>
        </p:nvSpPr>
        <p:spPr>
          <a:xfrm>
            <a:off x="466389" y="1428416"/>
            <a:ext cx="11041380" cy="5206554"/>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Problem Statement:</a:t>
            </a:r>
          </a:p>
          <a:p>
            <a:endParaRPr lang="en-US" sz="2000" b="1" dirty="0">
              <a:latin typeface="Times New Roman" panose="02020603050405020304" pitchFamily="18" charset="0"/>
              <a:cs typeface="Times New Roman" panose="02020603050405020304" pitchFamily="18" charset="0"/>
            </a:endParaRPr>
          </a:p>
          <a:p>
            <a:pPr marL="285750" indent="-285750" algn="just">
              <a:lnSpc>
                <a:spcPct val="150000"/>
              </a:lnSpc>
              <a:spcAft>
                <a:spcPts val="800"/>
              </a:spcAft>
              <a:buFont typeface="Arial" panose="020B0604020202020204" pitchFamily="34" charset="0"/>
              <a:buChar char="•"/>
            </a:pPr>
            <a:r>
              <a:rPr lang="en-US" kern="1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rPr>
              <a:t>High risk of fall-related injuries among elderly individuals, leading to severe health complications.</a:t>
            </a:r>
          </a:p>
          <a:p>
            <a:pPr marL="342900" indent="-342900" algn="just">
              <a:lnSpc>
                <a:spcPct val="150000"/>
              </a:lnSpc>
              <a:spcAft>
                <a:spcPts val="800"/>
              </a:spcAft>
              <a:buFont typeface="Arial" panose="020B0604020202020204" pitchFamily="34" charset="0"/>
              <a:buChar char="•"/>
            </a:pPr>
            <a:r>
              <a:rPr lang="en-US" kern="1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rPr>
              <a:t> Exiting fall detection systems have high false alarm rates and lack real-time responsiveness.</a:t>
            </a:r>
          </a:p>
          <a:p>
            <a:pPr algn="just">
              <a:lnSpc>
                <a:spcPct val="150000"/>
              </a:lnSpc>
              <a:spcAft>
                <a:spcPts val="800"/>
              </a:spcAft>
            </a:pPr>
            <a:endParaRPr lang="en-US" kern="1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en-US" sz="2000" b="1" kern="1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rPr>
              <a:t>Solution</a:t>
            </a:r>
            <a:r>
              <a:rPr lang="en-US" sz="2000" kern="1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rPr>
              <a:t>:</a:t>
            </a:r>
          </a:p>
          <a:p>
            <a:pPr marL="285750" indent="-285750" algn="just">
              <a:lnSpc>
                <a:spcPct val="150000"/>
              </a:lnSpc>
              <a:spcAft>
                <a:spcPts val="800"/>
              </a:spcAft>
              <a:buFont typeface="Arial" panose="020B0604020202020204" pitchFamily="34" charset="0"/>
              <a:buChar char="•"/>
            </a:pPr>
            <a:r>
              <a:rPr lang="en-US" kern="1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rPr>
              <a:t> IoT-based wearable device with sensors for accurate fall detection.</a:t>
            </a:r>
          </a:p>
          <a:p>
            <a:pPr marL="342900" indent="-342900" algn="just">
              <a:lnSpc>
                <a:spcPct val="150000"/>
              </a:lnSpc>
              <a:spcAft>
                <a:spcPts val="800"/>
              </a:spcAft>
              <a:buFont typeface="Arial" panose="020B0604020202020204" pitchFamily="34" charset="0"/>
              <a:buChar char="•"/>
            </a:pPr>
            <a:r>
              <a:rPr lang="en-US" kern="1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Real time alerts with GPS location and an automatic airbag deployment system to minimize injuries</a:t>
            </a:r>
            <a:r>
              <a:rPr lang="en-US" kern="1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rPr>
              <a:t>.</a:t>
            </a:r>
          </a:p>
          <a:p>
            <a:pPr marL="342900" indent="-342900" algn="just">
              <a:lnSpc>
                <a:spcPct val="150000"/>
              </a:lnSpc>
              <a:spcAft>
                <a:spcPts val="800"/>
              </a:spcAft>
              <a:buFont typeface="Arial" panose="020B0604020202020204" pitchFamily="34" charset="0"/>
              <a:buChar char="•"/>
            </a:pPr>
            <a:r>
              <a:rPr lang="en-US" kern="1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rPr>
              <a:t>Cloud storage for real-time data access.</a:t>
            </a:r>
          </a:p>
          <a:p>
            <a:pPr algn="just">
              <a:lnSpc>
                <a:spcPct val="150000"/>
              </a:lnSpc>
              <a:spcAft>
                <a:spcPts val="800"/>
              </a:spcAft>
            </a:pPr>
            <a:endParaRPr lang="en-US" kern="1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615917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EC6629-0D37-8899-5EE3-19F769BA8BB5}"/>
              </a:ext>
            </a:extLst>
          </p:cNvPr>
          <p:cNvSpPr>
            <a:spLocks noGrp="1"/>
          </p:cNvSpPr>
          <p:nvPr>
            <p:ph type="dt" sz="half" idx="10"/>
          </p:nvPr>
        </p:nvSpPr>
        <p:spPr/>
        <p:txBody>
          <a:bodyPr/>
          <a:lstStyle/>
          <a:p>
            <a:r>
              <a:rPr lang="en-US"/>
              <a:t>Dept. of ISE</a:t>
            </a:r>
            <a:endParaRPr lang="en-US" dirty="0"/>
          </a:p>
        </p:txBody>
      </p:sp>
      <p:sp>
        <p:nvSpPr>
          <p:cNvPr id="3" name="Footer Placeholder 2">
            <a:extLst>
              <a:ext uri="{FF2B5EF4-FFF2-40B4-BE49-F238E27FC236}">
                <a16:creationId xmlns:a16="http://schemas.microsoft.com/office/drawing/2014/main" id="{A92404F3-5D1C-572E-0952-90F09B027417}"/>
              </a:ext>
            </a:extLst>
          </p:cNvPr>
          <p:cNvSpPr>
            <a:spLocks noGrp="1"/>
          </p:cNvSpPr>
          <p:nvPr>
            <p:ph type="ftr" sz="quarter" idx="11"/>
          </p:nvPr>
        </p:nvSpPr>
        <p:spPr/>
        <p:txBody>
          <a:bodyPr/>
          <a:lstStyle/>
          <a:p>
            <a:r>
              <a:rPr lang="en-US"/>
              <a:t>10-02-2025</a:t>
            </a:r>
            <a:endParaRPr lang="en-US" dirty="0"/>
          </a:p>
        </p:txBody>
      </p:sp>
      <p:sp>
        <p:nvSpPr>
          <p:cNvPr id="4" name="Slide Number Placeholder 3">
            <a:extLst>
              <a:ext uri="{FF2B5EF4-FFF2-40B4-BE49-F238E27FC236}">
                <a16:creationId xmlns:a16="http://schemas.microsoft.com/office/drawing/2014/main" id="{F7742823-8433-C0EB-B38D-55299863AAD4}"/>
              </a:ext>
            </a:extLst>
          </p:cNvPr>
          <p:cNvSpPr>
            <a:spLocks noGrp="1"/>
          </p:cNvSpPr>
          <p:nvPr>
            <p:ph type="sldNum" sz="quarter" idx="12"/>
          </p:nvPr>
        </p:nvSpPr>
        <p:spPr/>
        <p:txBody>
          <a:bodyPr/>
          <a:lstStyle/>
          <a:p>
            <a:fld id="{4FAB73BC-B049-4115-A692-8D63A059BFB8}" type="slidenum">
              <a:rPr lang="en-US" smtClean="0"/>
              <a:pPr/>
              <a:t>10</a:t>
            </a:fld>
            <a:endParaRPr lang="en-US" dirty="0"/>
          </a:p>
        </p:txBody>
      </p:sp>
      <p:sp>
        <p:nvSpPr>
          <p:cNvPr id="5" name="TextBox 4">
            <a:extLst>
              <a:ext uri="{FF2B5EF4-FFF2-40B4-BE49-F238E27FC236}">
                <a16:creationId xmlns:a16="http://schemas.microsoft.com/office/drawing/2014/main" id="{5A1EBB29-DA78-FB82-09CC-AFE6398A5EF4}"/>
              </a:ext>
            </a:extLst>
          </p:cNvPr>
          <p:cNvSpPr txBox="1"/>
          <p:nvPr/>
        </p:nvSpPr>
        <p:spPr>
          <a:xfrm>
            <a:off x="694708" y="351234"/>
            <a:ext cx="10256519" cy="6155531"/>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System Proposed :</a:t>
            </a:r>
          </a:p>
          <a:p>
            <a:endParaRPr lang="en-US" sz="2000" b="1" dirty="0">
              <a:latin typeface="Times New Roman" panose="02020603050405020304" pitchFamily="18" charset="0"/>
              <a:cs typeface="Times New Roman" panose="02020603050405020304" pitchFamily="18" charset="0"/>
            </a:endParaRPr>
          </a:p>
          <a:p>
            <a:endParaRPr lang="en-US" sz="2000" b="1"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IN" kern="100" cap="none"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rPr>
              <a:t>Components:</a:t>
            </a:r>
          </a:p>
          <a:p>
            <a:pPr marL="285750" indent="-285750" algn="just">
              <a:lnSpc>
                <a:spcPct val="150000"/>
              </a:lnSpc>
              <a:buFont typeface="Wingdings" panose="05000000000000000000" pitchFamily="2" charset="2"/>
              <a:buChar char="Ø"/>
            </a:pPr>
            <a:r>
              <a:rPr lang="en-IN" kern="100" cap="none"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rPr>
              <a:t>     ESP32 microcontroller for processing,</a:t>
            </a:r>
          </a:p>
          <a:p>
            <a:pPr marL="285750" indent="-285750" algn="just">
              <a:lnSpc>
                <a:spcPct val="150000"/>
              </a:lnSpc>
              <a:buFont typeface="Wingdings" panose="05000000000000000000" pitchFamily="2" charset="2"/>
              <a:buChar char="Ø"/>
            </a:pPr>
            <a:r>
              <a:rPr lang="en-IN" sz="1800" b="1" kern="1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Accelerometer detects rapid changes in movement and acceleration to determine falls</a:t>
            </a:r>
            <a:r>
              <a:rPr lang="en-IN" sz="1800" kern="1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a:t>
            </a:r>
          </a:p>
          <a:p>
            <a:pPr marL="285750" indent="-285750" algn="just">
              <a:lnSpc>
                <a:spcPct val="150000"/>
              </a:lnSpc>
              <a:buFont typeface="Wingdings" panose="05000000000000000000" pitchFamily="2" charset="2"/>
              <a:buChar char="Ø"/>
            </a:pPr>
            <a:r>
              <a:rPr lang="en-US" sz="1800" dirty="0">
                <a:effectLst/>
                <a:latin typeface="Times New Roman" panose="02020603050405020304" pitchFamily="18" charset="0"/>
                <a:ea typeface="Times New Roman" panose="02020603050405020304" pitchFamily="18" charset="0"/>
              </a:rPr>
              <a:t>     Heart Rate Sensor Monitors the user’s heart rate before and after a fall to detect possible health risks.</a:t>
            </a:r>
            <a:endParaRPr lang="en-IN" sz="1800" dirty="0">
              <a:effectLst/>
              <a:latin typeface="Times New Roman" panose="02020603050405020304" pitchFamily="18" charset="0"/>
              <a:ea typeface="Times New Roman" panose="02020603050405020304" pitchFamily="18" charset="0"/>
            </a:endParaRPr>
          </a:p>
          <a:p>
            <a:pPr marL="285750" indent="-285750" algn="just">
              <a:lnSpc>
                <a:spcPct val="150000"/>
              </a:lnSpc>
              <a:buFont typeface="Wingdings" panose="05000000000000000000" pitchFamily="2" charset="2"/>
              <a:buChar char="Ø"/>
            </a:pPr>
            <a:r>
              <a:rPr lang="en-IN" kern="100" cap="none"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rPr>
              <a:t>     Mobile application.</a:t>
            </a:r>
          </a:p>
          <a:p>
            <a:pPr algn="just">
              <a:lnSpc>
                <a:spcPct val="150000"/>
              </a:lnSpc>
            </a:pPr>
            <a:endParaRPr lang="en-IN" kern="100" cap="none"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IN" kern="100" cap="none"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rPr>
              <a:t>User Benefits: </a:t>
            </a:r>
          </a:p>
          <a:p>
            <a:pPr marL="285750" indent="-285750" algn="just">
              <a:lnSpc>
                <a:spcPct val="150000"/>
              </a:lnSpc>
              <a:buFont typeface="Wingdings" panose="05000000000000000000" pitchFamily="2" charset="2"/>
              <a:buChar char="Ø"/>
            </a:pPr>
            <a:r>
              <a:rPr lang="en-IN" kern="100" cap="none"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rPr>
              <a:t>     Health Monitoring.</a:t>
            </a:r>
          </a:p>
          <a:p>
            <a:pPr marL="285750" indent="-285750" algn="just">
              <a:lnSpc>
                <a:spcPct val="150000"/>
              </a:lnSpc>
              <a:buFont typeface="Wingdings" panose="05000000000000000000" pitchFamily="2" charset="2"/>
              <a:buChar char="Ø"/>
            </a:pPr>
            <a:r>
              <a:rPr lang="en-IN" kern="100" cap="none"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rPr>
              <a:t>     Enhanced safety.</a:t>
            </a:r>
          </a:p>
          <a:p>
            <a:pPr marL="285750" indent="-285750" algn="just">
              <a:lnSpc>
                <a:spcPct val="150000"/>
              </a:lnSpc>
              <a:buFont typeface="Wingdings" panose="05000000000000000000" pitchFamily="2" charset="2"/>
              <a:buChar char="Ø"/>
            </a:pPr>
            <a:r>
              <a:rPr lang="en-IN" kern="1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     Instant Emergency Alerts.</a:t>
            </a:r>
            <a:endParaRPr lang="en-IN" cap="none" dirty="0">
              <a:solidFill>
                <a:schemeClr val="tx1">
                  <a:lumMod val="95000"/>
                  <a:lumOff val="5000"/>
                </a:schemeClr>
              </a:solidFill>
              <a:latin typeface="Times New Roman" panose="02020603050405020304" pitchFamily="18" charset="0"/>
              <a:cs typeface="Times New Roman" panose="02020603050405020304" pitchFamily="18" charset="0"/>
            </a:endParaRPr>
          </a:p>
          <a:p>
            <a:endParaRPr lang="en-US" sz="2000" b="1" dirty="0">
              <a:latin typeface="Times New Roman" panose="02020603050405020304" pitchFamily="18" charset="0"/>
              <a:cs typeface="Times New Roman" panose="02020603050405020304" pitchFamily="18" charset="0"/>
            </a:endParaRPr>
          </a:p>
          <a:p>
            <a:endParaRPr lang="en-US" sz="2000" b="1" dirty="0">
              <a:latin typeface="Times New Roman" panose="02020603050405020304" pitchFamily="18"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37464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2F1EB78-174A-AD85-674E-CA28FBE504F5}"/>
              </a:ext>
            </a:extLst>
          </p:cNvPr>
          <p:cNvSpPr>
            <a:spLocks noGrp="1"/>
          </p:cNvSpPr>
          <p:nvPr>
            <p:ph type="dt" sz="half" idx="10"/>
          </p:nvPr>
        </p:nvSpPr>
        <p:spPr/>
        <p:txBody>
          <a:bodyPr/>
          <a:lstStyle/>
          <a:p>
            <a:r>
              <a:rPr lang="en-US"/>
              <a:t>Dept. of ISE</a:t>
            </a:r>
            <a:endParaRPr lang="en-US" dirty="0"/>
          </a:p>
        </p:txBody>
      </p:sp>
      <p:sp>
        <p:nvSpPr>
          <p:cNvPr id="3" name="Footer Placeholder 2">
            <a:extLst>
              <a:ext uri="{FF2B5EF4-FFF2-40B4-BE49-F238E27FC236}">
                <a16:creationId xmlns:a16="http://schemas.microsoft.com/office/drawing/2014/main" id="{CEE67C34-7C7D-1D39-367C-0093CDEE4F79}"/>
              </a:ext>
            </a:extLst>
          </p:cNvPr>
          <p:cNvSpPr>
            <a:spLocks noGrp="1"/>
          </p:cNvSpPr>
          <p:nvPr>
            <p:ph type="ftr" sz="quarter" idx="11"/>
          </p:nvPr>
        </p:nvSpPr>
        <p:spPr/>
        <p:txBody>
          <a:bodyPr/>
          <a:lstStyle/>
          <a:p>
            <a:r>
              <a:rPr lang="en-US"/>
              <a:t>10-02-2025</a:t>
            </a:r>
            <a:endParaRPr lang="en-US" dirty="0"/>
          </a:p>
        </p:txBody>
      </p:sp>
      <p:sp>
        <p:nvSpPr>
          <p:cNvPr id="4" name="Slide Number Placeholder 3">
            <a:extLst>
              <a:ext uri="{FF2B5EF4-FFF2-40B4-BE49-F238E27FC236}">
                <a16:creationId xmlns:a16="http://schemas.microsoft.com/office/drawing/2014/main" id="{57BAB38D-9B35-A234-E268-8D3FD6BBF2F4}"/>
              </a:ext>
            </a:extLst>
          </p:cNvPr>
          <p:cNvSpPr>
            <a:spLocks noGrp="1"/>
          </p:cNvSpPr>
          <p:nvPr>
            <p:ph type="sldNum" sz="quarter" idx="12"/>
          </p:nvPr>
        </p:nvSpPr>
        <p:spPr/>
        <p:txBody>
          <a:bodyPr/>
          <a:lstStyle/>
          <a:p>
            <a:fld id="{4FAB73BC-B049-4115-A692-8D63A059BFB8}" type="slidenum">
              <a:rPr lang="en-US" smtClean="0"/>
              <a:pPr/>
              <a:t>11</a:t>
            </a:fld>
            <a:endParaRPr lang="en-US" dirty="0"/>
          </a:p>
        </p:txBody>
      </p:sp>
      <p:sp>
        <p:nvSpPr>
          <p:cNvPr id="5" name="TextBox 4">
            <a:extLst>
              <a:ext uri="{FF2B5EF4-FFF2-40B4-BE49-F238E27FC236}">
                <a16:creationId xmlns:a16="http://schemas.microsoft.com/office/drawing/2014/main" id="{9C73AAB5-90B2-410E-D798-931AE0373605}"/>
              </a:ext>
            </a:extLst>
          </p:cNvPr>
          <p:cNvSpPr txBox="1"/>
          <p:nvPr/>
        </p:nvSpPr>
        <p:spPr>
          <a:xfrm>
            <a:off x="449943" y="377371"/>
            <a:ext cx="7431314"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System Implementation:</a:t>
            </a:r>
            <a:endParaRPr lang="en-IN" sz="24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DD677F15-783C-01E4-FA3E-4B63CA6943EE}"/>
              </a:ext>
            </a:extLst>
          </p:cNvPr>
          <p:cNvSpPr txBox="1"/>
          <p:nvPr/>
        </p:nvSpPr>
        <p:spPr>
          <a:xfrm>
            <a:off x="326571" y="984704"/>
            <a:ext cx="11538857" cy="5355312"/>
          </a:xfrm>
          <a:prstGeom prst="rect">
            <a:avLst/>
          </a:prstGeom>
          <a:noFill/>
        </p:spPr>
        <p:txBody>
          <a:bodyPr wrap="square" rtlCol="0">
            <a:spAutoFit/>
          </a:bodyPr>
          <a:lstStyle/>
          <a:p>
            <a:pPr marL="630555" marR="542290" algn="just">
              <a:lnSpc>
                <a:spcPct val="150000"/>
              </a:lnSpc>
              <a:tabLst>
                <a:tab pos="652780" algn="l"/>
              </a:tabLst>
            </a:pPr>
            <a:r>
              <a:rPr lang="en-US" sz="1800" b="1" dirty="0">
                <a:effectLst/>
                <a:latin typeface="Times New Roman" panose="02020603050405020304" pitchFamily="18" charset="0"/>
                <a:ea typeface="Times New Roman" panose="02020603050405020304" pitchFamily="18" charset="0"/>
              </a:rPr>
              <a:t>HARDWARE SETUP</a:t>
            </a:r>
            <a:r>
              <a:rPr lang="en-US" b="1" dirty="0">
                <a:latin typeface="Times New Roman" panose="02020603050405020304" pitchFamily="18" charset="0"/>
                <a:ea typeface="Times New Roman" panose="02020603050405020304" pitchFamily="18" charset="0"/>
              </a:rPr>
              <a:t>:</a:t>
            </a:r>
            <a:endParaRPr lang="en-US" sz="1800" b="1" dirty="0">
              <a:effectLst/>
              <a:latin typeface="Times New Roman" panose="02020603050405020304" pitchFamily="18" charset="0"/>
              <a:ea typeface="Times New Roman" panose="02020603050405020304" pitchFamily="18" charset="0"/>
            </a:endParaRPr>
          </a:p>
          <a:p>
            <a:pPr marL="916305" marR="542290" indent="-285750" algn="just">
              <a:lnSpc>
                <a:spcPct val="150000"/>
              </a:lnSpc>
              <a:buFont typeface="Arial" panose="020B0604020202020204" pitchFamily="34" charset="0"/>
              <a:buChar char="•"/>
              <a:tabLst>
                <a:tab pos="652780" algn="l"/>
              </a:tabLst>
            </a:pPr>
            <a:r>
              <a:rPr lang="en-US" sz="1800" b="0" dirty="0">
                <a:effectLst/>
                <a:latin typeface="Times New Roman" panose="02020603050405020304" pitchFamily="18" charset="0"/>
                <a:ea typeface="Times New Roman" panose="02020603050405020304" pitchFamily="18" charset="0"/>
              </a:rPr>
              <a:t>The system begins with assembling the wearable device, which includes an ESP32 microcontroller, an accelerometer, a gyroscope, heart rate and temperature sensors, a GPS module, and an airbag deployment mechanism.</a:t>
            </a:r>
          </a:p>
          <a:p>
            <a:pPr marL="916305" marR="542290" indent="-285750" algn="just">
              <a:lnSpc>
                <a:spcPct val="150000"/>
              </a:lnSpc>
              <a:buFont typeface="Arial" panose="020B0604020202020204" pitchFamily="34" charset="0"/>
              <a:buChar char="•"/>
              <a:tabLst>
                <a:tab pos="652780" algn="l"/>
              </a:tabLst>
            </a:pPr>
            <a:r>
              <a:rPr lang="en-US" sz="1800" b="0" dirty="0">
                <a:effectLst/>
                <a:latin typeface="Times New Roman" panose="02020603050405020304" pitchFamily="18" charset="0"/>
                <a:ea typeface="Times New Roman" panose="02020603050405020304" pitchFamily="18" charset="0"/>
              </a:rPr>
              <a:t> These components are integrated onto a compact PCB to ensure efficiency and portability. The sensors continuously collect real-time motion and health data, which is processed locally by the ESP32 before transmitting it to the cloud.</a:t>
            </a:r>
          </a:p>
          <a:p>
            <a:pPr marL="630555" marR="542290" algn="just">
              <a:lnSpc>
                <a:spcPct val="150000"/>
              </a:lnSpc>
              <a:tabLst>
                <a:tab pos="652780" algn="l"/>
              </a:tabLst>
            </a:pPr>
            <a:r>
              <a:rPr lang="en-US" b="1" dirty="0">
                <a:latin typeface="Times New Roman" panose="02020603050405020304" pitchFamily="18" charset="0"/>
                <a:ea typeface="Times New Roman" panose="02020603050405020304" pitchFamily="18" charset="0"/>
              </a:rPr>
              <a:t>SOFTWARE SETUP:</a:t>
            </a:r>
          </a:p>
          <a:p>
            <a:pPr marL="916305" marR="542290" indent="-285750" algn="just">
              <a:lnSpc>
                <a:spcPct val="150000"/>
              </a:lnSpc>
              <a:buFont typeface="Arial" panose="020B0604020202020204" pitchFamily="34" charset="0"/>
              <a:buChar char="•"/>
              <a:tabLst>
                <a:tab pos="652780" algn="l"/>
              </a:tabLst>
            </a:pPr>
            <a:r>
              <a:rPr lang="en-US" sz="1800" dirty="0">
                <a:effectLst/>
                <a:latin typeface="Times New Roman" panose="02020603050405020304" pitchFamily="18" charset="0"/>
                <a:ea typeface="Times New Roman" panose="02020603050405020304" pitchFamily="18" charset="0"/>
              </a:rPr>
              <a:t>The emergency alert system is integrated with third-party services (SMS gateways, voice call APIs, etc.) to send notifications to caregivers when a fall is detected. </a:t>
            </a:r>
          </a:p>
          <a:p>
            <a:pPr marL="916305" marR="542290" indent="-285750" algn="just">
              <a:lnSpc>
                <a:spcPct val="150000"/>
              </a:lnSpc>
              <a:buFont typeface="Arial" panose="020B0604020202020204" pitchFamily="34" charset="0"/>
              <a:buChar char="•"/>
              <a:tabLst>
                <a:tab pos="652780" algn="l"/>
              </a:tabLst>
            </a:pPr>
            <a:r>
              <a:rPr lang="en-US" sz="1800" dirty="0">
                <a:effectLst/>
                <a:latin typeface="Times New Roman" panose="02020603050405020304" pitchFamily="18" charset="0"/>
                <a:ea typeface="Times New Roman" panose="02020603050405020304" pitchFamily="18" charset="0"/>
              </a:rPr>
              <a:t>The cloud server is developed using platforms such as Firebase, AWS, or a custom Node.js backend.</a:t>
            </a:r>
            <a:endParaRPr lang="en-US" sz="1800" b="0" dirty="0">
              <a:effectLst/>
              <a:latin typeface="Times New Roman" panose="02020603050405020304" pitchFamily="18" charset="0"/>
              <a:ea typeface="Times New Roman" panose="02020603050405020304" pitchFamily="18" charset="0"/>
            </a:endParaRPr>
          </a:p>
          <a:p>
            <a:pPr marL="916305" marR="542290" indent="-285750" algn="just">
              <a:lnSpc>
                <a:spcPct val="150000"/>
              </a:lnSpc>
              <a:buFont typeface="Arial" panose="020B0604020202020204" pitchFamily="34" charset="0"/>
              <a:buChar char="•"/>
              <a:tabLst>
                <a:tab pos="652780" algn="l"/>
              </a:tabLst>
            </a:pPr>
            <a:endParaRPr lang="en-IN" sz="1800" b="1" dirty="0">
              <a:effectLst/>
              <a:latin typeface="Times New Roman" panose="02020603050405020304" pitchFamily="18" charset="0"/>
              <a:ea typeface="Times New Roman" panose="02020603050405020304" pitchFamily="18" charset="0"/>
            </a:endParaRPr>
          </a:p>
          <a:p>
            <a:endParaRPr lang="en-IN" dirty="0"/>
          </a:p>
        </p:txBody>
      </p:sp>
    </p:spTree>
    <p:extLst>
      <p:ext uri="{BB962C8B-B14F-4D97-AF65-F5344CB8AC3E}">
        <p14:creationId xmlns:p14="http://schemas.microsoft.com/office/powerpoint/2010/main" val="41035948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1EA6EE-B495-0AB5-421E-B371F54E22A0}"/>
              </a:ext>
            </a:extLst>
          </p:cNvPr>
          <p:cNvSpPr>
            <a:spLocks noGrp="1"/>
          </p:cNvSpPr>
          <p:nvPr>
            <p:ph type="dt" sz="half" idx="10"/>
          </p:nvPr>
        </p:nvSpPr>
        <p:spPr/>
        <p:txBody>
          <a:bodyPr/>
          <a:lstStyle/>
          <a:p>
            <a:r>
              <a:rPr lang="en-US" sz="1200">
                <a:latin typeface="Times New Roman" panose="02020603050405020304" pitchFamily="18" charset="0"/>
                <a:cs typeface="Times New Roman" panose="02020603050405020304" pitchFamily="18" charset="0"/>
              </a:rPr>
              <a:t>Dept. of ISE</a:t>
            </a:r>
            <a:endParaRPr lang="en-US" sz="1200" dirty="0">
              <a:latin typeface="Times New Roman" panose="02020603050405020304" pitchFamily="18"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CE8FBD88-B9E6-DF14-A65D-A34ED055A7F2}"/>
              </a:ext>
            </a:extLst>
          </p:cNvPr>
          <p:cNvSpPr>
            <a:spLocks noGrp="1"/>
          </p:cNvSpPr>
          <p:nvPr>
            <p:ph type="ftr" sz="quarter" idx="11"/>
          </p:nvPr>
        </p:nvSpPr>
        <p:spPr/>
        <p:txBody>
          <a:bodyPr/>
          <a:lstStyle/>
          <a:p>
            <a:r>
              <a:rPr lang="en-US" sz="1200">
                <a:latin typeface="Times New Roman" panose="02020603050405020304" pitchFamily="18" charset="0"/>
                <a:cs typeface="Times New Roman" panose="02020603050405020304" pitchFamily="18" charset="0"/>
              </a:rPr>
              <a:t>10-02-2025</a:t>
            </a:r>
            <a:endParaRPr lang="en-US" sz="12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6AB3C0E5-9736-EB0F-CF08-C6FB65219363}"/>
              </a:ext>
            </a:extLst>
          </p:cNvPr>
          <p:cNvSpPr>
            <a:spLocks noGrp="1"/>
          </p:cNvSpPr>
          <p:nvPr>
            <p:ph type="sldNum" sz="quarter" idx="12"/>
          </p:nvPr>
        </p:nvSpPr>
        <p:spPr/>
        <p:txBody>
          <a:bodyPr/>
          <a:lstStyle/>
          <a:p>
            <a:fld id="{4FAB73BC-B049-4115-A692-8D63A059BFB8}" type="slidenum">
              <a:rPr lang="en-US" sz="1200" smtClean="0">
                <a:latin typeface="Times New Roman" panose="02020603050405020304" pitchFamily="18" charset="0"/>
                <a:cs typeface="Times New Roman" panose="02020603050405020304" pitchFamily="18" charset="0"/>
              </a:rPr>
              <a:pPr/>
              <a:t>12</a:t>
            </a:fld>
            <a:endParaRPr lang="en-US" sz="12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DF47D813-FB78-2073-4E94-8E21B9B20071}"/>
              </a:ext>
            </a:extLst>
          </p:cNvPr>
          <p:cNvSpPr txBox="1"/>
          <p:nvPr/>
        </p:nvSpPr>
        <p:spPr>
          <a:xfrm>
            <a:off x="721466" y="651451"/>
            <a:ext cx="4822804" cy="400110"/>
          </a:xfrm>
          <a:prstGeom prst="rect">
            <a:avLst/>
          </a:prstGeom>
          <a:noFill/>
        </p:spPr>
        <p:txBody>
          <a:bodyPr wrap="square" rtlCol="0">
            <a:spAutoFit/>
          </a:bodyPr>
          <a:lstStyle/>
          <a:p>
            <a:r>
              <a:rPr lang="en-US" sz="2000" b="1" spc="-10" dirty="0">
                <a:effectLst/>
                <a:latin typeface="Times New Roman" panose="02020603050405020304" pitchFamily="18" charset="0"/>
                <a:ea typeface="Times New Roman" panose="02020603050405020304" pitchFamily="18" charset="0"/>
              </a:rPr>
              <a:t>SNAPSHOTS:</a:t>
            </a:r>
            <a:endParaRPr lang="en-IN" sz="2000" b="1" dirty="0"/>
          </a:p>
        </p:txBody>
      </p:sp>
      <p:pic>
        <p:nvPicPr>
          <p:cNvPr id="9" name="Picture 8">
            <a:extLst>
              <a:ext uri="{FF2B5EF4-FFF2-40B4-BE49-F238E27FC236}">
                <a16:creationId xmlns:a16="http://schemas.microsoft.com/office/drawing/2014/main" id="{055AF116-CB6B-F43F-0C4E-172C34DA7AA0}"/>
              </a:ext>
            </a:extLst>
          </p:cNvPr>
          <p:cNvPicPr>
            <a:picLocks noChangeAspect="1"/>
          </p:cNvPicPr>
          <p:nvPr/>
        </p:nvPicPr>
        <p:blipFill>
          <a:blip r:embed="rId2"/>
          <a:srcRect l="3132" t="9616" r="9655" b="7421"/>
          <a:stretch/>
        </p:blipFill>
        <p:spPr>
          <a:xfrm rot="16200000">
            <a:off x="3124272" y="715342"/>
            <a:ext cx="4491140" cy="5689601"/>
          </a:xfrm>
          <a:prstGeom prst="rect">
            <a:avLst/>
          </a:prstGeom>
        </p:spPr>
      </p:pic>
    </p:spTree>
    <p:extLst>
      <p:ext uri="{BB962C8B-B14F-4D97-AF65-F5344CB8AC3E}">
        <p14:creationId xmlns:p14="http://schemas.microsoft.com/office/powerpoint/2010/main" val="2910678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5D6ACF-26B7-5E40-89C8-534E6EF66157}"/>
              </a:ext>
            </a:extLst>
          </p:cNvPr>
          <p:cNvSpPr>
            <a:spLocks noGrp="1"/>
          </p:cNvSpPr>
          <p:nvPr>
            <p:ph type="dt" sz="half" idx="10"/>
          </p:nvPr>
        </p:nvSpPr>
        <p:spPr/>
        <p:txBody>
          <a:bodyPr/>
          <a:lstStyle/>
          <a:p>
            <a:r>
              <a:rPr lang="en-US" sz="1200">
                <a:latin typeface="Times New Roman" panose="02020603050405020304" pitchFamily="18" charset="0"/>
                <a:cs typeface="Times New Roman" panose="02020603050405020304" pitchFamily="18" charset="0"/>
              </a:rPr>
              <a:t>Dept. of ISE</a:t>
            </a:r>
            <a:endParaRPr lang="en-US" sz="1200" dirty="0">
              <a:latin typeface="Times New Roman" panose="02020603050405020304" pitchFamily="18"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190EB755-264A-FDFF-4431-B735649A616A}"/>
              </a:ext>
            </a:extLst>
          </p:cNvPr>
          <p:cNvSpPr>
            <a:spLocks noGrp="1"/>
          </p:cNvSpPr>
          <p:nvPr>
            <p:ph type="ftr" sz="quarter" idx="11"/>
          </p:nvPr>
        </p:nvSpPr>
        <p:spPr/>
        <p:txBody>
          <a:bodyPr/>
          <a:lstStyle/>
          <a:p>
            <a:r>
              <a:rPr lang="en-US" sz="1200">
                <a:latin typeface="Times New Roman" panose="02020603050405020304" pitchFamily="18" charset="0"/>
                <a:cs typeface="Times New Roman" panose="02020603050405020304" pitchFamily="18" charset="0"/>
              </a:rPr>
              <a:t>10-02-2025</a:t>
            </a:r>
            <a:endParaRPr lang="en-US" sz="12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FF4AF408-287F-2ED5-A24A-214623F47A68}"/>
              </a:ext>
            </a:extLst>
          </p:cNvPr>
          <p:cNvSpPr>
            <a:spLocks noGrp="1"/>
          </p:cNvSpPr>
          <p:nvPr>
            <p:ph type="sldNum" sz="quarter" idx="12"/>
          </p:nvPr>
        </p:nvSpPr>
        <p:spPr/>
        <p:txBody>
          <a:bodyPr/>
          <a:lstStyle/>
          <a:p>
            <a:fld id="{4FAB73BC-B049-4115-A692-8D63A059BFB8}" type="slidenum">
              <a:rPr lang="en-US" sz="1200" smtClean="0">
                <a:latin typeface="Times New Roman" panose="02020603050405020304" pitchFamily="18" charset="0"/>
                <a:cs typeface="Times New Roman" panose="02020603050405020304" pitchFamily="18" charset="0"/>
              </a:rPr>
              <a:pPr/>
              <a:t>13</a:t>
            </a:fld>
            <a:endParaRPr lang="en-US" sz="12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C3370AC4-F02B-0854-DA3E-59BD953B6D19}"/>
              </a:ext>
            </a:extLst>
          </p:cNvPr>
          <p:cNvPicPr>
            <a:picLocks noChangeAspect="1"/>
          </p:cNvPicPr>
          <p:nvPr/>
        </p:nvPicPr>
        <p:blipFill>
          <a:blip r:embed="rId2"/>
          <a:stretch>
            <a:fillRect/>
          </a:stretch>
        </p:blipFill>
        <p:spPr>
          <a:xfrm>
            <a:off x="4107543" y="188684"/>
            <a:ext cx="4514908" cy="5907315"/>
          </a:xfrm>
          <a:prstGeom prst="rect">
            <a:avLst/>
          </a:prstGeom>
        </p:spPr>
      </p:pic>
    </p:spTree>
    <p:extLst>
      <p:ext uri="{BB962C8B-B14F-4D97-AF65-F5344CB8AC3E}">
        <p14:creationId xmlns:p14="http://schemas.microsoft.com/office/powerpoint/2010/main" val="42666712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A522A1-E86A-69BE-E9FA-AA8729707668}"/>
              </a:ext>
            </a:extLst>
          </p:cNvPr>
          <p:cNvSpPr>
            <a:spLocks noGrp="1"/>
          </p:cNvSpPr>
          <p:nvPr>
            <p:ph type="dt" sz="half" idx="10"/>
          </p:nvPr>
        </p:nvSpPr>
        <p:spPr/>
        <p:txBody>
          <a:bodyPr/>
          <a:lstStyle/>
          <a:p>
            <a:r>
              <a:rPr lang="en-US" sz="1200">
                <a:latin typeface="Times New Roman" panose="02020603050405020304" pitchFamily="18" charset="0"/>
                <a:cs typeface="Times New Roman" panose="02020603050405020304" pitchFamily="18" charset="0"/>
              </a:rPr>
              <a:t>Dept. of ISE</a:t>
            </a:r>
            <a:endParaRPr lang="en-US" sz="1200" dirty="0">
              <a:latin typeface="Times New Roman" panose="02020603050405020304" pitchFamily="18"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0852FF9A-DB3F-9B18-3F1F-9F7D1201611D}"/>
              </a:ext>
            </a:extLst>
          </p:cNvPr>
          <p:cNvSpPr>
            <a:spLocks noGrp="1"/>
          </p:cNvSpPr>
          <p:nvPr>
            <p:ph type="ftr" sz="quarter" idx="11"/>
          </p:nvPr>
        </p:nvSpPr>
        <p:spPr/>
        <p:txBody>
          <a:bodyPr/>
          <a:lstStyle/>
          <a:p>
            <a:r>
              <a:rPr lang="en-US" sz="1200">
                <a:latin typeface="Times New Roman" panose="02020603050405020304" pitchFamily="18" charset="0"/>
                <a:cs typeface="Times New Roman" panose="02020603050405020304" pitchFamily="18" charset="0"/>
              </a:rPr>
              <a:t>10-02-2025</a:t>
            </a:r>
            <a:endParaRPr lang="en-US" sz="12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F49A19B-30C6-0558-8E0F-EAB4D33B6D16}"/>
              </a:ext>
            </a:extLst>
          </p:cNvPr>
          <p:cNvSpPr>
            <a:spLocks noGrp="1"/>
          </p:cNvSpPr>
          <p:nvPr>
            <p:ph type="sldNum" sz="quarter" idx="12"/>
          </p:nvPr>
        </p:nvSpPr>
        <p:spPr/>
        <p:txBody>
          <a:bodyPr/>
          <a:lstStyle/>
          <a:p>
            <a:fld id="{4FAB73BC-B049-4115-A692-8D63A059BFB8}" type="slidenum">
              <a:rPr lang="en-US" sz="1200" smtClean="0">
                <a:latin typeface="Times New Roman" panose="02020603050405020304" pitchFamily="18" charset="0"/>
                <a:cs typeface="Times New Roman" panose="02020603050405020304" pitchFamily="18" charset="0"/>
              </a:rPr>
              <a:pPr/>
              <a:t>14</a:t>
            </a:fld>
            <a:endParaRPr lang="en-US" sz="12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ED4AF0EE-6085-0814-75AD-68DF693341EE}"/>
              </a:ext>
            </a:extLst>
          </p:cNvPr>
          <p:cNvSpPr txBox="1"/>
          <p:nvPr/>
        </p:nvSpPr>
        <p:spPr>
          <a:xfrm>
            <a:off x="1096249" y="855375"/>
            <a:ext cx="1125629"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Result:</a:t>
            </a:r>
            <a:endParaRPr lang="en-IN" sz="24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2C59299-E45F-BC8A-94C9-528FD261D148}"/>
              </a:ext>
            </a:extLst>
          </p:cNvPr>
          <p:cNvSpPr txBox="1"/>
          <p:nvPr/>
        </p:nvSpPr>
        <p:spPr>
          <a:xfrm>
            <a:off x="1096249" y="1862730"/>
            <a:ext cx="9999502" cy="3407151"/>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dirty="0">
                <a:latin typeface="Times New Roman" panose="02020603050405020304" pitchFamily="18" charset="0"/>
                <a:ea typeface="Times New Roman" panose="02020603050405020304" pitchFamily="18" charset="0"/>
              </a:rPr>
              <a:t>T</a:t>
            </a:r>
            <a:r>
              <a:rPr lang="en-US" sz="1800" dirty="0">
                <a:effectLst/>
                <a:latin typeface="Times New Roman" panose="02020603050405020304" pitchFamily="18" charset="0"/>
                <a:ea typeface="Times New Roman" panose="02020603050405020304" pitchFamily="18" charset="0"/>
              </a:rPr>
              <a:t>he IoT-based Fall Detection System for elderly people represents a significant step forward in enhancing the safety and well-being of elderly individuals</a:t>
            </a:r>
          </a:p>
          <a:p>
            <a:pPr marL="342900" indent="-342900" algn="just">
              <a:lnSpc>
                <a:spcPct val="150000"/>
              </a:lnSpc>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rPr>
              <a:t>With thorough software and hardware testing to ensure reliability and performance, this system has the potential to greatly improve the quality of life for elderly individuals while providing peace of mind to their families and caregivers</a:t>
            </a:r>
            <a:endParaRPr lang="en-US" dirty="0">
              <a:latin typeface="Times New Roman" panose="02020603050405020304" pitchFamily="18" charset="0"/>
              <a:ea typeface="Times New Roman" panose="02020603050405020304" pitchFamily="18" charset="0"/>
            </a:endParaRPr>
          </a:p>
          <a:p>
            <a:pPr marL="342900" indent="-342900" algn="just">
              <a:lnSpc>
                <a:spcPct val="150000"/>
              </a:lnSpc>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rPr>
              <a:t>The successful implementation of this project could pave the way for further innovations in healthcare technology, especially in the context of aging populations.</a:t>
            </a:r>
            <a:endParaRPr lang="en-IN" sz="1800" dirty="0">
              <a:effectLst/>
              <a:latin typeface="Times New Roman" panose="02020603050405020304" pitchFamily="18" charset="0"/>
              <a:ea typeface="Times New Roman" panose="02020603050405020304" pitchFamily="18" charset="0"/>
            </a:endParaRPr>
          </a:p>
          <a:p>
            <a:pPr marL="342900" indent="-342900" algn="just">
              <a:lnSpc>
                <a:spcPct val="150000"/>
              </a:lnSpc>
              <a:buFont typeface="Arial" panose="020B0604020202020204" pitchFamily="34" charset="0"/>
              <a:buChar char="•"/>
            </a:pP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77467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4B1EF43-8B59-FA58-B5A6-6ACC59B6E8C2}"/>
              </a:ext>
            </a:extLst>
          </p:cNvPr>
          <p:cNvSpPr>
            <a:spLocks noGrp="1"/>
          </p:cNvSpPr>
          <p:nvPr>
            <p:ph type="dt" sz="half" idx="10"/>
          </p:nvPr>
        </p:nvSpPr>
        <p:spPr/>
        <p:txBody>
          <a:bodyPr/>
          <a:lstStyle/>
          <a:p>
            <a:r>
              <a:rPr lang="en-US" sz="1200">
                <a:latin typeface="Times New Roman" panose="02020603050405020304" pitchFamily="18" charset="0"/>
                <a:cs typeface="Times New Roman" panose="02020603050405020304" pitchFamily="18" charset="0"/>
              </a:rPr>
              <a:t>Dept. of ISE</a:t>
            </a:r>
            <a:endParaRPr lang="en-US" sz="1200" dirty="0">
              <a:latin typeface="Times New Roman" panose="02020603050405020304" pitchFamily="18"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C030B0FD-E96F-79F7-F07A-0C65C95A0058}"/>
              </a:ext>
            </a:extLst>
          </p:cNvPr>
          <p:cNvSpPr>
            <a:spLocks noGrp="1"/>
          </p:cNvSpPr>
          <p:nvPr>
            <p:ph type="ftr" sz="quarter" idx="11"/>
          </p:nvPr>
        </p:nvSpPr>
        <p:spPr/>
        <p:txBody>
          <a:bodyPr/>
          <a:lstStyle/>
          <a:p>
            <a:r>
              <a:rPr lang="en-US" sz="1200">
                <a:latin typeface="Times New Roman" panose="02020603050405020304" pitchFamily="18" charset="0"/>
                <a:cs typeface="Times New Roman" panose="02020603050405020304" pitchFamily="18" charset="0"/>
              </a:rPr>
              <a:t>10-02-2025</a:t>
            </a:r>
            <a:endParaRPr lang="en-US" sz="12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347F6FB-54DD-79A9-8262-CEC050CE43FD}"/>
              </a:ext>
            </a:extLst>
          </p:cNvPr>
          <p:cNvSpPr>
            <a:spLocks noGrp="1"/>
          </p:cNvSpPr>
          <p:nvPr>
            <p:ph type="sldNum" sz="quarter" idx="12"/>
          </p:nvPr>
        </p:nvSpPr>
        <p:spPr/>
        <p:txBody>
          <a:bodyPr/>
          <a:lstStyle/>
          <a:p>
            <a:fld id="{4FAB73BC-B049-4115-A692-8D63A059BFB8}" type="slidenum">
              <a:rPr lang="en-US" sz="1200" smtClean="0">
                <a:latin typeface="Times New Roman" panose="02020603050405020304" pitchFamily="18" charset="0"/>
                <a:cs typeface="Times New Roman" panose="02020603050405020304" pitchFamily="18" charset="0"/>
              </a:rPr>
              <a:pPr/>
              <a:t>15</a:t>
            </a:fld>
            <a:endParaRPr lang="en-US" sz="12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F858F03C-D93D-BC6B-58BD-5A835F199FDC}"/>
              </a:ext>
            </a:extLst>
          </p:cNvPr>
          <p:cNvSpPr txBox="1"/>
          <p:nvPr/>
        </p:nvSpPr>
        <p:spPr>
          <a:xfrm>
            <a:off x="1530220" y="2295331"/>
            <a:ext cx="8126963" cy="1323439"/>
          </a:xfrm>
          <a:prstGeom prst="rect">
            <a:avLst/>
          </a:prstGeom>
          <a:noFill/>
        </p:spPr>
        <p:txBody>
          <a:bodyPr wrap="square" rtlCol="0">
            <a:spAutoFit/>
          </a:bodyPr>
          <a:lstStyle/>
          <a:p>
            <a:pPr algn="ctr"/>
            <a:r>
              <a:rPr lang="en-IN" sz="8000"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2552711862"/>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02006FA4-1611-4B07-AF7F-85CF6D20EB3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1251</TotalTime>
  <Words>1138</Words>
  <Application>Microsoft Office PowerPoint</Application>
  <PresentationFormat>Widescreen</PresentationFormat>
  <Paragraphs>157</Paragraphs>
  <Slides>15</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Calibri</vt:lpstr>
      <vt:lpstr>Calibri Light</vt:lpstr>
      <vt:lpstr>Symbol</vt:lpstr>
      <vt:lpstr>Times New Roman</vt:lpstr>
      <vt:lpstr>Wingdings</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danvithad258@gmail.com</cp:lastModifiedBy>
  <cp:revision>95</cp:revision>
  <dcterms:created xsi:type="dcterms:W3CDTF">2024-06-30T12:16:24Z</dcterms:created>
  <dcterms:modified xsi:type="dcterms:W3CDTF">2025-02-10T04:53:27Z</dcterms:modified>
</cp:coreProperties>
</file>